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berlin.wordpress.com/2026/10/15/wasserfuehrung-holzvordach-tropfkante-gefaelle-anschluss/" TargetMode="External"/><Relationship Id="rId3" Type="http://schemas.openxmlformats.org/officeDocument/2006/relationships/hyperlink" Target="https://holzundhaus.github.io/holzwerkberlin/dateien/minimax-6bb46e676f6178516632930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am Holzvordach: Tropfkante, Gefälle und Fassadenanschluss im Detail · Erklärende Präsentation</a:t>
            </a:r>
          </a:p>
        </p:txBody>
      </p:sp>
      <p:sp>
        <p:nvSpPr>
          <p:cNvPr id="3" name="Content Placeholder 2"/>
          <p:cNvSpPr>
            <a:spLocks noGrp="1"/>
          </p:cNvSpPr>
          <p:nvPr>
            <p:ph idx="1"/>
          </p:nvPr>
        </p:nvSpPr>
        <p:spPr/>
        <p:txBody>
          <a:bodyPr/>
          <a:lstStyle/>
          <a:p>
            <a:r>
              <a:t>Überblick: Ein Holzvordach schützt den Eingang zuverlässig nur dann, wenn Regenwasser gezielt von der Konstruktion weggeleitet wird. Die Planung der Wasserführung ist kein optionales Detail, sondern entscheidend dafür, ob das Vordach, die Fassade und der Türaufbau langfristig trocken bleiben. Dieser Ratgeber erklärt, warum Tropfkante, Gefälle und Wandanschluss zusammenwirken, welche Folgen eine unzureichende Wasserableitung hat und worauf Eigentümer bei bestehenden oder geplanten Vordächern achten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Wasser am Vordach gezielt abgeleitet werden muss</a:t>
            </a:r>
          </a:p>
        </p:txBody>
      </p:sp>
      <p:sp>
        <p:nvSpPr>
          <p:cNvPr id="3" name="Content Placeholder 2"/>
          <p:cNvSpPr>
            <a:spLocks noGrp="1"/>
          </p:cNvSpPr>
          <p:nvPr>
            <p:ph idx="1"/>
          </p:nvPr>
        </p:nvSpPr>
        <p:spPr/>
        <p:txBody>
          <a:bodyPr/>
          <a:lstStyle/>
          <a:p>
            <a:pPr>
              <a:defRPr sz="1800"/>
            </a:pPr>
            <a:r>
              <a:t>Ein Holzvordach steht permanent im Kontakt mit Niederschlag. Wind treibt Regen seitlich unter die Konstruktion, Tropfwasser läuft an der vorderen Holzkante herab, und am Wandanschluss findet sich fast immer eine Fuge, in die Wasser eindringen kann. Diese drei Zonen bestimmen, ob Feuchtigkeit in Auflager, Bekleidung und Türaufbau gelangt oder nicht. Eine durchdachte Wasserführung reduziert das Risiko stehender Feuchte, die Holz angreift, Farbanstriche unterwandert und die Bausubstanz im Eingangsbereich belastet. Anders als bei größeren Dachflächen wird die Wasserableitung beim Vordach leicht unterschätzt, weil die Fläche klein wirkt – die auft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Wasser am Vordach gezielt abgeleitet werden muss</a:t>
            </a:r>
          </a:p>
        </p:txBody>
      </p:sp>
      <p:sp>
        <p:nvSpPr>
          <p:cNvPr id="3" name="Content Placeholder 2"/>
          <p:cNvSpPr>
            <a:spLocks noGrp="1"/>
          </p:cNvSpPr>
          <p:nvPr>
            <p:ph idx="1"/>
          </p:nvPr>
        </p:nvSpPr>
        <p:spPr/>
        <p:txBody>
          <a:bodyPr/>
          <a:lstStyle/>
          <a:p>
            <a:pPr>
              <a:defRPr sz="1800"/>
            </a:pPr>
            <a:r>
              <a:t>retenden Kräfte sind jedoch vergleichbar.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Schadensbilder bei fehlender oder unzureichender Wasserführung</a:t>
            </a:r>
          </a:p>
        </p:txBody>
      </p:sp>
      <p:sp>
        <p:nvSpPr>
          <p:cNvPr id="3" name="Content Placeholder 2"/>
          <p:cNvSpPr>
            <a:spLocks noGrp="1"/>
          </p:cNvSpPr>
          <p:nvPr>
            <p:ph idx="1"/>
          </p:nvPr>
        </p:nvSpPr>
        <p:spPr/>
        <p:txBody>
          <a:bodyPr/>
          <a:lstStyle/>
          <a:p>
            <a:pPr>
              <a:defRPr sz="1800"/>
            </a:pPr>
            <a:r>
              <a:t>Wenn ein Vordach über längere Zeit Wasser nicht kontrolliert ableitet, zeigen sich typische Warnzeichen. An der vorderen Kante dunkelt das Hirnholz nach, weil Stirnholz deutlich stärker Feuchtigkeit aufnimmt als Längsholz. An der Fassade unter dem Wandanschluss finden sich Verfärbungen oder Abplatzungen im Putz. Im Bereich der Türschwelle quillt Holz auf oder der Bodenbelag vor dem Eingang zeigt dauerhafte Feuchtespuren. In schweren Fällen weicht die Unterkonstruktion auf, sodass Beplankung oder Schalung ihre Form verändern. Diese Schäden entstehen schleichend und werden oft erst erkannt, wenn Anstriche erneuert oder Renovierungen fällig werd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Schadensbilder bei fehlender oder unzureichender Wasserführung</a:t>
            </a:r>
          </a:p>
        </p:txBody>
      </p:sp>
      <p:sp>
        <p:nvSpPr>
          <p:cNvPr id="3" name="Content Placeholder 2"/>
          <p:cNvSpPr>
            <a:spLocks noGrp="1"/>
          </p:cNvSpPr>
          <p:nvPr>
            <p:ph idx="1"/>
          </p:nvPr>
        </p:nvSpPr>
        <p:spPr/>
        <p:txBody>
          <a:bodyPr/>
          <a:lstStyle/>
          <a:p>
            <a:pPr>
              <a:defRPr sz="1800"/>
            </a:pPr>
            <a:r>
              <a: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Zusammenhang zwischen Tropfkante, Gefälle und Wandanschluss</a:t>
            </a:r>
          </a:p>
        </p:txBody>
      </p:sp>
      <p:sp>
        <p:nvSpPr>
          <p:cNvPr id="3" name="Content Placeholder 2"/>
          <p:cNvSpPr>
            <a:spLocks noGrp="1"/>
          </p:cNvSpPr>
          <p:nvPr>
            <p:ph idx="1"/>
          </p:nvPr>
        </p:nvSpPr>
        <p:spPr/>
        <p:txBody>
          <a:bodyPr/>
          <a:lstStyle/>
          <a:p>
            <a:pPr>
              <a:defRPr sz="1800"/>
            </a:pPr>
            <a:r>
              <a:t>Die drei Elemente Tropfkante, Gefälle und Wandanschluss wirken nicht isoliert, sondern als Einheit. Die Tropfkante sorgt dafür, dass Wasser an der vorderen Kante abtropft, bevor es die Fassade oder das Hirnholz erreicht. Das Gefälle leitet Niederschlag zu dieser Tropfkante hin und verhindert stehendes Wasser auf der Vordachfläche. Der Wandansluss schließt die Lücke zwischen Vordach und Fassade so, dass eindringende Feuchtigkeit entweder abgeleitet oder durch Hinterlüftung wieder abtrocknen kann. Fehlt eines dieser drei Elemente oder ist es unzureichend ausgebildet, steigt die Belastung für die anderen beiden. Eine vordergründig ausreichende 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Zusammenhang zwischen Tropfkante, Gefälle und Wandanschluss</a:t>
            </a:r>
          </a:p>
        </p:txBody>
      </p:sp>
      <p:sp>
        <p:nvSpPr>
          <p:cNvPr id="3" name="Content Placeholder 2"/>
          <p:cNvSpPr>
            <a:spLocks noGrp="1"/>
          </p:cNvSpPr>
          <p:nvPr>
            <p:ph idx="1"/>
          </p:nvPr>
        </p:nvSpPr>
        <p:spPr/>
        <p:txBody>
          <a:bodyPr/>
          <a:lstStyle/>
          <a:p>
            <a:pPr>
              <a:defRPr sz="1800"/>
            </a:pPr>
            <a:r>
              <a:t>ropfkante nützt wenig, wenn das Gefälle zur Hauswand zeigt, statt das Wasser nach vorne abzuleiten.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Eigentümer den Zustand ihres Vordachs prüfen können</a:t>
            </a:r>
          </a:p>
        </p:txBody>
      </p:sp>
      <p:sp>
        <p:nvSpPr>
          <p:cNvPr id="3" name="Content Placeholder 2"/>
          <p:cNvSpPr>
            <a:spLocks noGrp="1"/>
          </p:cNvSpPr>
          <p:nvPr>
            <p:ph idx="1"/>
          </p:nvPr>
        </p:nvSpPr>
        <p:spPr/>
        <p:txBody>
          <a:bodyPr/>
          <a:lstStyle/>
          <a:p>
            <a:pPr>
              <a:defRPr sz="1800"/>
            </a:pPr>
            <a:r>
              <a:t>Bestehende Vordächer lassen sich ohne Fachkenntnisse auf elementare Probleme der Wasserführung kontrollieren. Nach einem Regenereignis wird beobachtet, ob die Fassade unterhalb des Vordachs feucht bleibt und wie lange das Trocknungsverhalten dauert. Die vordere Holzkante wird auf Verfärbungen und Wasserzeichen geprüft. An der Fuge zum Wandanschluss werden Risse, Verfärbungen oder Moosbewuchs als Hinweis auf stehende Feuchte gewertet. Der Bereich vor der Türschwelle zeigt an, ob Spritzwasser oder ablaufendes Wasser den Eingangsbereich belasten. Diese Beobachtungen helfen einzuschätzen, ob eine Überprüfung durch einen Fachbetrieb sinnvoll ist,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Eigentümer den Zustand ihres Vordachs prüfen können</a:t>
            </a:r>
          </a:p>
        </p:txBody>
      </p:sp>
      <p:sp>
        <p:nvSpPr>
          <p:cNvPr id="3" name="Content Placeholder 2"/>
          <p:cNvSpPr>
            <a:spLocks noGrp="1"/>
          </p:cNvSpPr>
          <p:nvPr>
            <p:ph idx="1"/>
          </p:nvPr>
        </p:nvSpPr>
        <p:spPr/>
        <p:txBody>
          <a:bodyPr/>
          <a:lstStyle/>
          <a:p>
            <a:pPr>
              <a:defRPr sz="1800"/>
            </a:pPr>
            <a:r>
              <a:t>und liefern konkrete Angaben für ein Beratungsgespräch.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Planungshinweise für die Angebotseinholung</a:t>
            </a:r>
          </a:p>
        </p:txBody>
      </p:sp>
      <p:sp>
        <p:nvSpPr>
          <p:cNvPr id="3" name="Content Placeholder 2"/>
          <p:cNvSpPr>
            <a:spLocks noGrp="1"/>
          </p:cNvSpPr>
          <p:nvPr>
            <p:ph idx="1"/>
          </p:nvPr>
        </p:nvSpPr>
        <p:spPr/>
        <p:txBody>
          <a:bodyPr/>
          <a:lstStyle/>
          <a:p>
            <a:pPr>
              <a:defRPr sz="1800"/>
            </a:pPr>
            <a:r>
              <a:t>Wer ein neues Holzvordach planen oder ein bestehendes instand setzen möchte, sollte bei der Anfrage einige Angaben machen, die eine fundierte Einschätzung ermöglichen. Die gewünschte Ausladung und Tiefe des Vordachs bestimmen die Anforderungen an Tropfkante und Gefälle. Der Wandaufbau im geplanten Befestigungsbereich – ob Gedämmte Fassade, Altbau mit Bestandsmauerwerk oder eine andere Konstruktion – beeinflusst die Wahl des Wandanschlusses. Beobachtete Schwachstellen am bestehenden Vordach oder an der Fassade im Eingangsbereich geben dem Planer konkrete Anhaltspunkte. Diese Angaben ersetzen zwar keine Vor-Ort-Prüfung, helfen aber, Tropfkante,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Planungshinweise für die Angebotseinholung</a:t>
            </a:r>
          </a:p>
        </p:txBody>
      </p:sp>
      <p:sp>
        <p:nvSpPr>
          <p:cNvPr id="3" name="Content Placeholder 2"/>
          <p:cNvSpPr>
            <a:spLocks noGrp="1"/>
          </p:cNvSpPr>
          <p:nvPr>
            <p:ph idx="1"/>
          </p:nvPr>
        </p:nvSpPr>
        <p:spPr/>
        <p:txBody>
          <a:bodyPr/>
          <a:lstStyle/>
          <a:p>
            <a:pPr>
              <a:defRPr sz="1800"/>
            </a:pPr>
            <a:r>
              <a:t> Gefälle und Anschluss als zusammenhängendes Konzept zu planen statt als Einzellösung.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Wasserführung am Holzvordach: Tropfkante, Gefälle und Fassadenanschluss im Detail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