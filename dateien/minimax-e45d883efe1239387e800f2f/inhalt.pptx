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werkberlin/berliner-altbau-bauteilaufbauten-dach-wand-decke/" TargetMode="External"/><Relationship Id="rId3" Type="http://schemas.openxmlformats.org/officeDocument/2006/relationships/hyperlink" Target="https://holzundhaus.github.io/holzwerkberlin/dateien/minimax-e45d883efe1239387e800f2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Berliner Altbau – typische Bauteilaufbauten in Dach, Wand und Decke · Erklärende Präsentation</a:t>
            </a:r>
          </a:p>
        </p:txBody>
      </p:sp>
      <p:sp>
        <p:nvSpPr>
          <p:cNvPr id="3" name="Content Placeholder 2"/>
          <p:cNvSpPr>
            <a:spLocks noGrp="1"/>
          </p:cNvSpPr>
          <p:nvPr>
            <p:ph idx="1"/>
          </p:nvPr>
        </p:nvSpPr>
        <p:spPr/>
        <p:txBody>
          <a:bodyPr/>
          <a:lstStyle/>
          <a:p>
            <a:r>
              <a:t>Überblick: Bei der energetischen Sanierung Berliner Altbauten entscheidet nicht zuerst der gewünschte Dämmstoff über den Aufbau, sondern der vorhandene Bestand. Dach, Wand und Decke können jeweils aus anderen Schichten bestehen und unterschiedliche Feuchte- und Schallprobleme aufweisen. Wer die Konstruktion vor der Planung systematisch erfasst, vermeidet unpassende Dämmkonzepte und kann Anschlüsse sowie nutzbare Aufbauhöhen realistisch bewerten. Die ausführliche Übersicht zu typischen Bauteilaufbauten in Berliner Altbauten bietet dafür die Grundlage.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Bestand vor der Planung offenglegen</a:t>
            </a:r>
          </a:p>
        </p:txBody>
      </p:sp>
      <p:sp>
        <p:nvSpPr>
          <p:cNvPr id="3" name="Content Placeholder 2"/>
          <p:cNvSpPr>
            <a:spLocks noGrp="1"/>
          </p:cNvSpPr>
          <p:nvPr>
            <p:ph idx="1"/>
          </p:nvPr>
        </p:nvSpPr>
        <p:spPr/>
        <p:txBody>
          <a:bodyPr/>
          <a:lstStyle/>
          <a:p>
            <a:pPr>
              <a:defRPr sz="1800"/>
            </a:pPr>
            <a:r>
              <a:t>Eine belastbare Sanierungsplanung beginnt mit der Frage, welche Schichten tatsächlich vorhanden sind. Im Dach sind beispielsweise Sparren, Lattung, Ziegel und mögliche Unterdeckungen zu untersuchen. An der Wand interessieren Wandstärke, Mauerwerksart, Putz, Fassadenbekleidung sowie Hohlräume oder Bestandsdämmung. Bei der Decke müssen Holzbalken, Einschub, Dielen und ein möglicher Aufbau über der obersten Geschossdecke erfasst werden. Sichtbare Schichten lassen sich nicht immer vollständig beurteilen. Deshalb sollten Annahmen ausdrücklich als solche gekennzeichnet und bei Bedarf durch Proben oder die Öffnung geeigneter Bereiche überprüft werde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Bestand vor der Planung offenglegen</a:t>
            </a:r>
          </a:p>
        </p:txBody>
      </p:sp>
      <p:sp>
        <p:nvSpPr>
          <p:cNvPr id="3" name="Content Placeholder 2"/>
          <p:cNvSpPr>
            <a:spLocks noGrp="1"/>
          </p:cNvSpPr>
          <p:nvPr>
            <p:ph idx="1"/>
          </p:nvPr>
        </p:nvSpPr>
        <p:spPr/>
        <p:txBody>
          <a:bodyPr/>
          <a:lstStyle/>
          <a:p>
            <a:pPr>
              <a:defRPr sz="1800"/>
            </a:pPr>
            <a:r>
              <a:t>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Dach anhand der vorhandenen Konstruktion beurteilen</a:t>
            </a:r>
          </a:p>
        </p:txBody>
      </p:sp>
      <p:sp>
        <p:nvSpPr>
          <p:cNvPr id="3" name="Content Placeholder 2"/>
          <p:cNvSpPr>
            <a:spLocks noGrp="1"/>
          </p:cNvSpPr>
          <p:nvPr>
            <p:ph idx="1"/>
          </p:nvPr>
        </p:nvSpPr>
        <p:spPr/>
        <p:txBody>
          <a:bodyPr/>
          <a:lstStyle/>
          <a:p>
            <a:pPr>
              <a:defRPr sz="1800"/>
            </a:pPr>
            <a:r>
              <a:t>Beim ungedämmten Sparrendach muss eine zusätzliche Dämmung mit der erforderlichen Luftdichtheit und einer regensicheren, diffusionsoffenen Unterdeckung zusammenpassen. Beim teilisolierten Kehlbalkendach wird die Entscheidung durch die Lage von Sparren, Kehlbalken und Zangen sowie durch die vorhandene Aufbauhöhe geprägt. Die Art der Dämmung – zwischen, auf oder unter den Sparren – folgt daher nicht allein einem gewünschten Dämmniveau. Entscheidend ist auch, ob der Dachraum genutzt wird und welcher Aufbau dafür realisierbar ist. Vor Beginn sollten Feuchteflecken, Geräusche bei Regen oder Wind sowie sichtbare Verformungen dokumentiert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Wandaufbauten und Feuchtepfade zusammenhängend prüfen</a:t>
            </a:r>
          </a:p>
        </p:txBody>
      </p:sp>
      <p:sp>
        <p:nvSpPr>
          <p:cNvPr id="3" name="Content Placeholder 2"/>
          <p:cNvSpPr>
            <a:spLocks noGrp="1"/>
          </p:cNvSpPr>
          <p:nvPr>
            <p:ph idx="1"/>
          </p:nvPr>
        </p:nvSpPr>
        <p:spPr/>
        <p:txBody>
          <a:bodyPr/>
          <a:lstStyle/>
          <a:p>
            <a:pPr>
              <a:defRPr sz="1800"/>
            </a:pPr>
            <a:r>
              <a:t>Massives Vollziegel- oder Kalcksandsteinmauerwerk mit Innenputz und äußerer Verkleidung ist gegenüber einem mehrschichtigen Aufbau mit Hohlraum anders zu bewerten. Eine Innendämmung kann den Taupunkt nach innen verschieben. Eine Holzlage vor dem Mauerwerk verändert wiederum die Anforderungen an Anschlüsse, Beplankung und Feuchteabführung. Vor einer zusätzlichen Holzschicht ist deshalb zu klären, ob ein Hohlraum oder eine bereits vorhandene, lückenhafte Dämmung vorliegt. Starre Folien oder eine innenliegende Dampfsperre können den Feuchtepfad in eine ungeeignete Richtung lenken, während Putz und Vollziegel diffusionsfähig bleiben. Die konkrete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Wandaufbauten und Feuchtepfade zusammenhängend prüfen</a:t>
            </a:r>
          </a:p>
        </p:txBody>
      </p:sp>
      <p:sp>
        <p:nvSpPr>
          <p:cNvPr id="3" name="Content Placeholder 2"/>
          <p:cNvSpPr>
            <a:spLocks noGrp="1"/>
          </p:cNvSpPr>
          <p:nvPr>
            <p:ph idx="1"/>
          </p:nvPr>
        </p:nvSpPr>
        <p:spPr/>
        <p:txBody>
          <a:bodyPr/>
          <a:lstStyle/>
          <a:p>
            <a:pPr>
              <a:defRPr sz="1800"/>
            </a:pPr>
            <a:r>
              <a:t> Lösung muss auf den vorgefundenen Aufbau abgestimmt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Geschossdecken für Wärme und Schall differenzieren</a:t>
            </a:r>
          </a:p>
        </p:txBody>
      </p:sp>
      <p:sp>
        <p:nvSpPr>
          <p:cNvPr id="3" name="Content Placeholder 2"/>
          <p:cNvSpPr>
            <a:spLocks noGrp="1"/>
          </p:cNvSpPr>
          <p:nvPr>
            <p:ph idx="1"/>
          </p:nvPr>
        </p:nvSpPr>
        <p:spPr/>
        <p:txBody>
          <a:bodyPr/>
          <a:lstStyle/>
          <a:p>
            <a:pPr>
              <a:defRPr sz="1800"/>
            </a:pPr>
            <a:r>
              <a:t>Eine Holzbalkendecke mit Einschub übernimmt sowohl die Trennung zwischen Geschossen als auch die Lastabtragung. Bei einer energetischen Verbesserung sind deshalb nicht nur die Wärmedämmung der begehbaren Schicht, sondern auch der Anschluss an die flankierenden Wände und der Trittschall relevant. Wird die Decke für einen Dachgeschossausbau oder eine neue Holzkonstruktion ergänzt, kann eine starre Verbindung den Schallschutz verschlechtern. Eine geeignete Entkopplung des Schichtenaufbaus ist dabei wesentlich. Massivdecken im Erdgeschoss oder Souterrain sind robuster gegen Feuchte von unten, verlangen bei Holzlagen aber eine zusätzliche Beachtun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Geschossdecken für Wärme und Schall differenzieren</a:t>
            </a:r>
          </a:p>
        </p:txBody>
      </p:sp>
      <p:sp>
        <p:nvSpPr>
          <p:cNvPr id="3" name="Content Placeholder 2"/>
          <p:cNvSpPr>
            <a:spLocks noGrp="1"/>
          </p:cNvSpPr>
          <p:nvPr>
            <p:ph idx="1"/>
          </p:nvPr>
        </p:nvSpPr>
        <p:spPr/>
        <p:txBody>
          <a:bodyPr/>
          <a:lstStyle/>
          <a:p>
            <a:pPr>
              <a:defRPr sz="1800"/>
            </a:pPr>
            <a:r>
              <a:t>g von Spritzwasser und Kondensation am Sockel. Weiterführende Informationen zur Sanierung von Holzbalkendecken im Berliner Bestand ergänzen die technische Einordnung.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Unterlagen zur Planungsgrundlage machen</a:t>
            </a:r>
          </a:p>
        </p:txBody>
      </p:sp>
      <p:sp>
        <p:nvSpPr>
          <p:cNvPr id="3" name="Content Placeholder 2"/>
          <p:cNvSpPr>
            <a:spLocks noGrp="1"/>
          </p:cNvSpPr>
          <p:nvPr>
            <p:ph idx="1"/>
          </p:nvPr>
        </p:nvSpPr>
        <p:spPr/>
        <p:txBody>
          <a:bodyPr/>
          <a:lstStyle/>
          <a:p>
            <a:pPr>
              <a:defRPr sz="1800"/>
            </a:pPr>
            <a:r>
              <a:t>Die kritischen Übergänge liegen häufig zwischen Dach, Wand und Decke. Holzprofile und Beplankungen müssen dort durchgehend angeschlossen werden; einzelne Bauteilränder reichen nicht aus. Für die weitere Planung sollten Aufbauzeichnungen, vorhandene Energieberatungen, Pläne früherer Sanierungen und Beobachtungen zu Zugluft, Feuchte oder Schimmel zusammengetragen werden. Mit diesen Angaben lässt sich klären, welche Flächen untersucht werden müssen, welche Aufbauhöhe zur Verfügung steht und wo eine vertiefte Bauteilprüfung erforderlich ist. So wird aus dem sichtbaren Altbau eine nachvollziehbare Grundlage für Dämmung, Luftdichtheit, Feuchteschut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Unterlagen zur Planungsgrundlage machen</a:t>
            </a:r>
          </a:p>
        </p:txBody>
      </p:sp>
      <p:sp>
        <p:nvSpPr>
          <p:cNvPr id="3" name="Content Placeholder 2"/>
          <p:cNvSpPr>
            <a:spLocks noGrp="1"/>
          </p:cNvSpPr>
          <p:nvPr>
            <p:ph idx="1"/>
          </p:nvPr>
        </p:nvSpPr>
        <p:spPr/>
        <p:txBody>
          <a:bodyPr/>
          <a:lstStyle/>
          <a:p>
            <a:pPr>
              <a:defRPr sz="1800"/>
            </a:pPr>
            <a:r>
              <a:t>z und Schallschutz.</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Berliner Altbau – typische Bauteilaufbauten in Dach, Wand und Decke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