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berlin.wordpress.com/2026/10/28/trittschall-holzbalkendecke-berlin/" TargetMode="External"/><Relationship Id="rId3" Type="http://schemas.openxmlformats.org/officeDocument/2006/relationships/hyperlink" Target="https://holzundhaus.github.io/holzwerkberlin/dateien/minimax-6d5cedef7dfd2cf899d86f7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Trittschall und Schallübertragung bei Holzbalkendecken im Berliner Bestand verbessern · Erklärende Präsentation</a:t>
            </a:r>
          </a:p>
        </p:txBody>
      </p:sp>
      <p:sp>
        <p:nvSpPr>
          <p:cNvPr id="3" name="Content Placeholder 2"/>
          <p:cNvSpPr>
            <a:spLocks noGrp="1"/>
          </p:cNvSpPr>
          <p:nvPr>
            <p:ph idx="1"/>
          </p:nvPr>
        </p:nvSpPr>
        <p:spPr/>
        <p:txBody>
          <a:bodyPr/>
          <a:lstStyle/>
          <a:p>
            <a:r>
              <a:t>Überblick: Bei einer Holzbalkendecke im Berliner Bestand lässt sich Trittschall rarely mit einer einzelnen Maßnahme lösen. Entscheidend ist, ob Schall direkt durch die Decke, über ihre Schichten oder über Balkenköpfe, Auflager und angrenzende Bauteile übertragen wird. Beschwerung, elastische Trennung und die vorhandene Aufbauhöhe müssen deshalb zusammen betrachtet werden. Der folgende Leitfaden ordnet die wichtigsten Prüfschritte und hilft, Schallschutz nicht isoliert von Tragfähigkeit, Anschlüssen und Brandschutz zu planen. Weitere Orientierung bietet das Thema Holzbalkendecken-Sanierung in Berlin.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Übertragungswege gemeinsam betrachten</a:t>
            </a:r>
          </a:p>
        </p:txBody>
      </p:sp>
      <p:sp>
        <p:nvSpPr>
          <p:cNvPr id="3" name="Content Placeholder 2"/>
          <p:cNvSpPr>
            <a:spLocks noGrp="1"/>
          </p:cNvSpPr>
          <p:nvPr>
            <p:ph idx="1"/>
          </p:nvPr>
        </p:nvSpPr>
        <p:spPr/>
        <p:txBody>
          <a:bodyPr/>
          <a:lstStyle/>
          <a:p>
            <a:pPr>
              <a:defRPr sz="1800"/>
            </a:pPr>
            <a:r>
              <a:t>Bei Holzbalkendecken wirken drei Wege der Schallübertragung. Trittschall entsteht, wenn die Deckenoberfläche durch Begehen, Möbelrücken oder Stühle angeregt wird. Luftschall wird durch Sprache oder Musik verursacht, die durch die Decke in darunterliegende Räume dringt. Hinzu kommt die flankierende Übertragung: Schall läuft über Balkenköpfe, Auflager, Wände und Fußböhe in benachbarte Räume weiter.</a:t>
            </a:r>
          </a:p>
          <a:p>
            <a:pPr>
              <a:defRPr sz="1800"/>
            </a:pPr>
          </a:p>
          <a:p>
            <a:pPr>
              <a:defRPr sz="1800"/>
            </a:pPr>
            <a:r>
              <a:t>Diese Wege sind nicht getrennt voneinander zu bewerten. Eine leichte Decke schwingt stärker, kann aber durch weiche Zwischenschichten wirksam unterstützt werden. Eine schwerere Decke benötigt dagegen eine saubere Schichttrennung, damit Schall nicht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Übertragungswege gemeinsam betrachten</a:t>
            </a:r>
          </a:p>
        </p:txBody>
      </p:sp>
      <p:sp>
        <p:nvSpPr>
          <p:cNvPr id="3" name="Content Placeholder 2"/>
          <p:cNvSpPr>
            <a:spLocks noGrp="1"/>
          </p:cNvSpPr>
          <p:nvPr>
            <p:ph idx="1"/>
          </p:nvPr>
        </p:nvSpPr>
        <p:spPr/>
        <p:txBody>
          <a:bodyPr/>
          <a:lstStyle/>
          <a:p>
            <a:pPr>
              <a:defRPr sz="1800"/>
            </a:pPr>
            <a:r>
              <a:t>über die Decke selbst oder über angrenzende Bauteile weitergeleitet wird. Ein sinnvoller Schallschutz setzt deshalb nicht nur am Bodenbelag an, sondern berücksichtigt den gesamten Aufbau.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Beschwerung und Schichttrennung als gekoppelte Maßnahmen</a:t>
            </a:r>
          </a:p>
        </p:txBody>
      </p:sp>
      <p:sp>
        <p:nvSpPr>
          <p:cNvPr id="3" name="Content Placeholder 2"/>
          <p:cNvSpPr>
            <a:spLocks noGrp="1"/>
          </p:cNvSpPr>
          <p:nvPr>
            <p:ph idx="1"/>
          </p:nvPr>
        </p:nvSpPr>
        <p:spPr/>
        <p:txBody>
          <a:bodyPr/>
          <a:lstStyle/>
          <a:p>
            <a:pPr>
              <a:defRPr sz="1800"/>
            </a:pPr>
            <a:r>
              <a:t>Eine höhere flächenbezogene Masse kann die Schwingungsfähigkeit der Decke verringern. Im Bestand kann Masse beispielsweise durch trockene Schüttung im Einschub oder in Hohlräumen bereitgestellt werden. Vor dieser Maßnahme ist jedoch zu prüfen, ob Balken und Auflager die zusätzliche Last aufnehmen können. Beschwerung ist daher keine Schallschutzmaßnahme ohne Voraussetzungen.</a:t>
            </a:r>
          </a:p>
          <a:p>
            <a:pPr>
              <a:defRPr sz="1800"/>
            </a:pPr>
          </a:p>
          <a:p>
            <a:pPr>
              <a:defRPr sz="1800"/>
            </a:pPr>
            <a:r>
              <a:t>Ergänzend kann die Decke elastisch von festen Bauteilen getrennt werden. Genannt werden schwimmender Estrich, federnde Lager und abgehängte Unterdecken mit Schwingungsdämpfern. Ziel ist, dass beim Begehen nicht die gesamte Deckenmasse direkt auf Balken und Wände übertrage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Beschwerung und Schichttrennung als gekoppelte Maßnahmen</a:t>
            </a:r>
          </a:p>
        </p:txBody>
      </p:sp>
      <p:sp>
        <p:nvSpPr>
          <p:cNvPr id="3" name="Content Placeholder 2"/>
          <p:cNvSpPr>
            <a:spLocks noGrp="1"/>
          </p:cNvSpPr>
          <p:nvPr>
            <p:ph idx="1"/>
          </p:nvPr>
        </p:nvSpPr>
        <p:spPr/>
        <p:txBody>
          <a:bodyPr/>
          <a:lstStyle/>
          <a:p>
            <a:pPr>
              <a:defRPr sz="1800"/>
            </a:pPr>
            <a:r>
              <a:t>n wird. Entscheidend ist außerdem, wie die Unterdecke befestigt ist: Eine schwingungsdämpfende Befestigung an der Tragschale ist gegenüber einer Verbindung mit flankierenden Wänden zu bevorzugen. So werden mehrere Übertragungswege gleichzeitig in den Blick genommen, ohne dass eine einzelne Technik isoliert beurteilt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Aufbauhöhe und Anschlüsse in die Planung einbeziehen</a:t>
            </a:r>
          </a:p>
        </p:txBody>
      </p:sp>
      <p:sp>
        <p:nvSpPr>
          <p:cNvPr id="3" name="Content Placeholder 2"/>
          <p:cNvSpPr>
            <a:spLocks noGrp="1"/>
          </p:cNvSpPr>
          <p:nvPr>
            <p:ph idx="1"/>
          </p:nvPr>
        </p:nvSpPr>
        <p:spPr/>
        <p:txBody>
          <a:bodyPr/>
          <a:lstStyle/>
          <a:p>
            <a:pPr>
              <a:defRPr sz="1800"/>
            </a:pPr>
            <a:r>
              <a:t>Die verfügbare Höhe zwischen Balkenoberkante und neuer Nutzebene begrenzt die möglichen Maßnahmen. Eine mögliche Rangfolge beginnt mit einer elastischen Trennschicht auf Tragschale oder Schalung. Darauf können Beschwerung und anschließend ein Trocken- oder Nassestrich auf Trennlage folgen. Die oberste Schicht, etwa Holz, Teppich oder ein anderer Belag, wird passend zur Nutzung gewählt. Diese Reihenfolge trennt Masse und Federung und hilft, Schallbrücken zu vermeiden.</a:t>
            </a:r>
          </a:p>
          <a:p>
            <a:pPr>
              <a:defRPr sz="1800"/>
            </a:pPr>
          </a:p>
          <a:p>
            <a:pPr>
              <a:defRPr sz="1800"/>
            </a:pPr>
            <a:r>
              <a:t>Vor der Festlegung eines Aufbaus gehören deshalb Türhöhen, Schwellen, Installationsebenen und Randfugen in die Prüfung. Auch die Anschlüsse der Balkenauflager in Außen- und Inne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Aufbauhöhe und Anschlüsse in die Planung einbeziehen</a:t>
            </a:r>
          </a:p>
        </p:txBody>
      </p:sp>
      <p:sp>
        <p:nvSpPr>
          <p:cNvPr id="3" name="Content Placeholder 2"/>
          <p:cNvSpPr>
            <a:spLocks noGrp="1"/>
          </p:cNvSpPr>
          <p:nvPr>
            <p:ph idx="1"/>
          </p:nvPr>
        </p:nvSpPr>
        <p:spPr/>
        <p:txBody>
          <a:bodyPr/>
          <a:lstStyle/>
          <a:p>
            <a:pPr>
              <a:defRPr sz="1800"/>
            </a:pPr>
            <a:r>
              <a:t>nwände sind relevant, weil dort Schall in angrenzende Bauteile weiterlaufen kann. Randfugen sollten getrennt ausgeführt werden, damit Estrich und Belag keine zusätzliche Verbindung zwischen Deckenbereichen herstellen. Wer gleichzeitig eine energetische Sanierung oder einen Dachgeschossausbau plant, sollte den Schallschutz in diese größere Bestandsplanung einordnen.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 der Musterempfehlung aufnehmen</a:t>
            </a:r>
          </a:p>
        </p:txBody>
      </p:sp>
      <p:sp>
        <p:nvSpPr>
          <p:cNvPr id="3" name="Content Placeholder 2"/>
          <p:cNvSpPr>
            <a:spLocks noGrp="1"/>
          </p:cNvSpPr>
          <p:nvPr>
            <p:ph idx="1"/>
          </p:nvPr>
        </p:nvSpPr>
        <p:spPr/>
        <p:txBody>
          <a:bodyPr/>
          <a:lstStyle/>
          <a:p>
            <a:pPr>
              <a:defRPr sz="1800"/>
            </a:pPr>
            <a:r>
              <a:t>Im Berliner Alt- und Bestandsbau liegen Balkenabstände, Einschub und vorhandene Aufbauten selten offen. Eine belastbare Planung beginnt deshalb mit einer Aufnahme des tatsächlichen Zustands. Zu klären ist, wie die Decke aufgebaut ist, wie viel Aufbauhöhe zur Verfügung steht, welche Lasten Balken und Auflager vertragen und wo flankierende Wege in Wände, Treppen oder andere Decken führen.</a:t>
            </a:r>
          </a:p>
          <a:p>
            <a:pPr>
              <a:defRPr sz="1800"/>
            </a:pPr>
          </a:p>
          <a:p>
            <a:pPr>
              <a:defRPr sz="1800"/>
            </a:pPr>
            <a:r>
              <a:t>Diese Fragen stehen auch bei Tragfähigkeit und Brandschutz im Zentrum. Eine trockene Schüttung kann Masse und brandschutztechnische Reserven beeinflussen; eine entkoppelte Unterdecke verändert, welche Bauteile im Brandfall wie erhitzt werden. Schallschutz sol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 der Musterempfehlung aufnehmen</a:t>
            </a:r>
          </a:p>
        </p:txBody>
      </p:sp>
      <p:sp>
        <p:nvSpPr>
          <p:cNvPr id="3" name="Content Placeholder 2"/>
          <p:cNvSpPr>
            <a:spLocks noGrp="1"/>
          </p:cNvSpPr>
          <p:nvPr>
            <p:ph idx="1"/>
          </p:nvPr>
        </p:nvSpPr>
        <p:spPr/>
        <p:txBody>
          <a:bodyPr/>
          <a:lstStyle/>
          <a:p>
            <a:pPr>
              <a:defRPr sz="1800"/>
            </a:pPr>
            <a:r>
              <a:t>lte daher nicht unabhängig von diesen Anforderungen festgelegt werden. Die sinnvolle Reihenfolge lautet: Bestand aufnehmen, Tragwerk und Auflager prüfen, Anschlüsse untersuchen und erst danach Beschwerung, Schichttrennung oder eine Kombination auswählen. Für eine vertiefende Einordnung bieten sich die Bestandsthemen rund um Holzbalkendecken und Sanierung in Berlin 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Trittschall und Schallübertragung bei Holzbalkendecken im Berliner Bestand verbessern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