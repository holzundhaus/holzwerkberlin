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blogspot.com/2026/10/bewitterungsklassen-bei-holz-welches.html" TargetMode="External"/><Relationship Id="rId3" Type="http://schemas.openxmlformats.org/officeDocument/2006/relationships/hyperlink" Target="https://holzundhaus.github.io/holzwerkberlin/dateien/minimax-5453a7a56dec548680c886a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Bewitterungsklassen bei Holz: Welches Schutzkonzept passt zu welchem Bauteil? · Erklärende Präsentation</a:t>
            </a:r>
          </a:p>
        </p:txBody>
      </p:sp>
      <p:sp>
        <p:nvSpPr>
          <p:cNvPr id="3" name="Content Placeholder 2"/>
          <p:cNvSpPr>
            <a:spLocks noGrp="1"/>
          </p:cNvSpPr>
          <p:nvPr>
            <p:ph idx="1"/>
          </p:nvPr>
        </p:nvSpPr>
        <p:spPr/>
        <p:txBody>
          <a:bodyPr/>
          <a:lstStyle/>
          <a:p>
            <a:r>
              <a:t>Überblick: Holzschutz beginnt nicht beim Farbeimer, sondern bei der Frage, wie stark ein Bauteil im Außenbereich tatsächlich beansprucht wird. Die Bewitterungsklassen bei Holz helfen dabei, Regen, Spritzwasser, Schutz vor direkter Nässe und den direkten Bodenkontakt voneinander zu unterscheiden. So wird sichtbar, warum Fassadenbretter, Terrassenstützen oder Pfosten nahe der Erde unterschiedliche konstruktive Lösungen benötigen. Die wichtigste Grundregel lautet: Die Schutzmaßnahme muss zur Lage des Bauteils passen – ein einzelner Anstrich ersetzt weder die Wasserführung noch die Sicherstellung der Trocknung.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Bewitterungslagen richtig unterscheiden</a:t>
            </a:r>
          </a:p>
        </p:txBody>
      </p:sp>
      <p:sp>
        <p:nvSpPr>
          <p:cNvPr id="3" name="Content Placeholder 2"/>
          <p:cNvSpPr>
            <a:spLocks noGrp="1"/>
          </p:cNvSpPr>
          <p:nvPr>
            <p:ph idx="1"/>
          </p:nvPr>
        </p:nvSpPr>
        <p:spPr/>
        <p:txBody>
          <a:bodyPr/>
          <a:lstStyle/>
          <a:p>
            <a:pPr>
              <a:defRPr sz="1800"/>
            </a:pPr>
            <a:r>
              <a:t>Frei bewitterte Bauteile sind Schlagregen, UV-Licht und raschen Wechseln zwischen nass und trocken ausgesetzt. Dazu zählen etwa Fassadenflächen, Brüstungen, sichtbare Balkenköpfe und ungeschützte Geländer. Im Spritzwasserbereich treffen Bauteile zusätzlich aufprallende Tropfen, etwa im Bereich von Sockeln, Carport-Stützen, Terrassenstützen oder Schwellen. Geschützte Bereiche unter Dachüberständen, Loggien, Dachüberbauten oder Balkonen sind nicht direkt bewittert, können aber durch Feuchte aus der Umgebung und Kondensat belastet sein. Die anspruchsvollste Lage ist der erdberührte oder direkt mit dem Boden verbundene Bereich. Hier wirken ständi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Bewitterungslagen richtig unterscheiden</a:t>
            </a:r>
          </a:p>
        </p:txBody>
      </p:sp>
      <p:sp>
        <p:nvSpPr>
          <p:cNvPr id="3" name="Content Placeholder 2"/>
          <p:cNvSpPr>
            <a:spLocks noGrp="1"/>
          </p:cNvSpPr>
          <p:nvPr>
            <p:ph idx="1"/>
          </p:nvPr>
        </p:nvSpPr>
        <p:spPr/>
        <p:txBody>
          <a:bodyPr/>
          <a:lstStyle/>
          <a:p>
            <a:pPr>
              <a:defRPr sz="1800"/>
            </a:pPr>
            <a:r>
              <a:t>ge Feuchte, biologische Aktivität und fehlende Trocknung zusammen. Die Zuordnung entscheidet daher bereits über die sinnvolle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vor Oberflächenbehandlung</a:t>
            </a:r>
          </a:p>
        </p:txBody>
      </p:sp>
      <p:sp>
        <p:nvSpPr>
          <p:cNvPr id="3" name="Content Placeholder 2"/>
          <p:cNvSpPr>
            <a:spLocks noGrp="1"/>
          </p:cNvSpPr>
          <p:nvPr>
            <p:ph idx="1"/>
          </p:nvPr>
        </p:nvSpPr>
        <p:spPr/>
        <p:txBody>
          <a:bodyPr/>
          <a:lstStyle/>
          <a:p>
            <a:pPr>
              <a:defRPr sz="1800"/>
            </a:pPr>
            <a:r>
              <a:t>Für frei bewitterte Flächen sind konstruktive Details wie Hinterlüftungsabstände, Tropfkanten und ausreichende Dachüberstände von zentraler Bedeutung. Im Spritzwasserbereich hilft ein Abstand zum Boden, ein Kiesbett oder ein Streifenfundament anstelle von direktem Erdkontakt. Bei geschützten Bauteilen müssen Fugen und Anschlüsse so geplant werden, dass eingedrungene Feuchte wieder abtrocknen kann. Für Pfosten im Bodenbereich ist es grundsätzlich besser, Erdberührung zu vermeiden und sie auf Punktfundamente oder metallische Pfostenträger zu stellen. Oberflächenbehandlungen können die Lebensdauer unterstützen, ersetzen aber keine durchdachte Wa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vor Oberflächenbehandlung</a:t>
            </a:r>
          </a:p>
        </p:txBody>
      </p:sp>
      <p:sp>
        <p:nvSpPr>
          <p:cNvPr id="3" name="Content Placeholder 2"/>
          <p:cNvSpPr>
            <a:spLocks noGrp="1"/>
          </p:cNvSpPr>
          <p:nvPr>
            <p:ph idx="1"/>
          </p:nvPr>
        </p:nvSpPr>
        <p:spPr/>
        <p:txBody>
          <a:bodyPr/>
          <a:lstStyle/>
          <a:p>
            <a:pPr>
              <a:defRPr sz="1800"/>
            </a:pPr>
            <a:r>
              <a:t>sserführung. Gerade verdeckte Auflager, Fensterbänke sowie Balkon- und Terrassenübergänge sollten deshalb früh in die Planung einbezogen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Anstrich allein nicht ausreicht</a:t>
            </a:r>
          </a:p>
        </p:txBody>
      </p:sp>
      <p:sp>
        <p:nvSpPr>
          <p:cNvPr id="3" name="Content Placeholder 2"/>
          <p:cNvSpPr>
            <a:spLocks noGrp="1"/>
          </p:cNvSpPr>
          <p:nvPr>
            <p:ph idx="1"/>
          </p:nvPr>
        </p:nvSpPr>
        <p:spPr/>
        <p:txBody>
          <a:bodyPr/>
          <a:lstStyle/>
          <a:p>
            <a:pPr>
              <a:defRPr sz="1800"/>
            </a:pPr>
            <a:r>
              <a:t>Derselbe Anstrich wirkt je nach Bewitterungslage unterschiedlich. Auf einer hinterlüfteten Fassade stehen andere Bedingungen herrschen als im Sockelbereich oder an einem Pfosten nahe der Erde. Wird ein Bauteil gestrichen, ohne seinen Abstand zum Boden oder die anschließenden Details zu klären, bleibt die zentrale Feuchtebelastung ungelöst. Zusätzlich beeinflusst Verschattung die Trocknung: Ein dauerhaft beschattetes Bauteil kann Feuchte länger halten und empfindlicher auf stehende Nässe reagieren. Bei geschützten Bereichen nennt der weiterführende Ratgeber zum konstruktiven Holzschutz diffusionsoffene Beschichtungen statt diffusionsdichter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Anstrich allein nicht ausreicht</a:t>
            </a:r>
          </a:p>
        </p:txBody>
      </p:sp>
      <p:sp>
        <p:nvSpPr>
          <p:cNvPr id="3" name="Content Placeholder 2"/>
          <p:cNvSpPr>
            <a:spLocks noGrp="1"/>
          </p:cNvSpPr>
          <p:nvPr>
            <p:ph idx="1"/>
          </p:nvPr>
        </p:nvSpPr>
        <p:spPr/>
        <p:txBody>
          <a:bodyPr/>
          <a:lstStyle/>
          <a:p>
            <a:pPr>
              <a:defRPr sz="1800"/>
            </a:pPr>
            <a:r>
              <a:t>striche, damit die Trocknung nicht blockiert wird. Materialwahl, Anschluss und Oberflächenbehandlung sollten deshalb als zusammengehöriges System betrachtet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die Detailplanung</a:t>
            </a:r>
          </a:p>
        </p:txBody>
      </p:sp>
      <p:sp>
        <p:nvSpPr>
          <p:cNvPr id="3" name="Content Placeholder 2"/>
          <p:cNvSpPr>
            <a:spLocks noGrp="1"/>
          </p:cNvSpPr>
          <p:nvPr>
            <p:ph idx="1"/>
          </p:nvPr>
        </p:nvSpPr>
        <p:spPr/>
        <p:txBody>
          <a:bodyPr/>
          <a:lstStyle/>
          <a:p>
            <a:pPr>
              <a:defRPr sz="1800"/>
            </a:pPr>
            <a:r>
              <a:t>Bei der Planung von Holzkonstruktionen empfiehlt sich eine feste Reihenfolge. Zuerst wird die Bewitterungsklasse jedes Bauteils bestimmt. Danach wird geklärt, wo Regen auftrifft, wo er abfließt und wo Wasser stehen bleiben könnte. Anschließend werden Sockel, Fensterbank, Balkon- und Terrassenübergänge sowie weitere Anschlussdetails gezeichnet. Im nächsten Schritt wird geprüft, ob Fugen, Auflager und verdeckte Anschlüsse ausreichend Luft Bewegung erhalten und abtrocknen können. Erst danach lassen sich Material und Oberflächenbehandlung nach den tatsächlichen Anforderungen auswählen. Diese Systematik hilft, pauschale Empfehlungen zu vermeiden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die Detailplanung</a:t>
            </a:r>
          </a:p>
        </p:txBody>
      </p:sp>
      <p:sp>
        <p:nvSpPr>
          <p:cNvPr id="3" name="Content Placeholder 2"/>
          <p:cNvSpPr>
            <a:spLocks noGrp="1"/>
          </p:cNvSpPr>
          <p:nvPr>
            <p:ph idx="1"/>
          </p:nvPr>
        </p:nvSpPr>
        <p:spPr/>
        <p:txBody>
          <a:bodyPr/>
          <a:lstStyle/>
          <a:p>
            <a:pPr>
              <a:defRPr sz="1800"/>
            </a:pPr>
            <a:r>
              <a:t>nd den konstruktiven Holzschutz vom Anstrich zu trennen. Wer bereits eine Bewitterungslage nachvollziehen möchte, findet im Beitrag zu Bewitterungsklassen bei Holz die passende Grundlage.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Bewitterungsklassen bei Holz: Welches Schutzkonzept passt zu welchem Bauteil?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