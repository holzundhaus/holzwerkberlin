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werkberlin/gebaeudefuge-thermische-trennung-branche/" TargetMode="External"/><Relationship Id="rId3" Type="http://schemas.openxmlformats.org/officeDocument/2006/relationships/hyperlink" Target="https://holzundhaus.github.io/holzwerkberlin/dateien/minimax-a1cc5e50473c7686598f220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Gebäudefuge und thermische Trennung beim Holzanbau: Fuge, Setzung und Wärmebrücke als Einheit denken · Erklärende Präsentation</a:t>
            </a:r>
          </a:p>
        </p:txBody>
      </p:sp>
      <p:sp>
        <p:nvSpPr>
          <p:cNvPr id="3" name="Content Placeholder 2"/>
          <p:cNvSpPr>
            <a:spLocks noGrp="1"/>
          </p:cNvSpPr>
          <p:nvPr>
            <p:ph idx="1"/>
          </p:nvPr>
        </p:nvSpPr>
        <p:spPr/>
        <p:txBody>
          <a:bodyPr/>
          <a:lstStyle/>
          <a:p>
            <a:r>
              <a:t>Überblick: Ein Holzanbau wird nicht allein durch seine Konstruktion bestimmt. Besonders entscheidend ist der Anschluss an ein bestehendes Gebäude: Dort treffen unterschiedliche Bauweisen, Gründungen und Hüllen auf. Fuge, Setzungsverhalten und thermische Trennung müssen deshalb gemeinsam betrachtet werden. Der folgende Beitrag erläutert, worauf bei der Planung zu achten ist und welche Fragen Bauherren möglichst früh klären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Gebäudefuge mehr als ein Spalt ist</a:t>
            </a:r>
          </a:p>
        </p:txBody>
      </p:sp>
      <p:sp>
        <p:nvSpPr>
          <p:cNvPr id="3" name="Content Placeholder 2"/>
          <p:cNvSpPr>
            <a:spLocks noGrp="1"/>
          </p:cNvSpPr>
          <p:nvPr>
            <p:ph idx="1"/>
          </p:nvPr>
        </p:nvSpPr>
        <p:spPr/>
        <p:txBody>
          <a:bodyPr/>
          <a:lstStyle/>
          <a:p>
            <a:pPr>
              <a:defRPr sz="1800"/>
            </a:pPr>
            <a:r>
              <a:t>Die Gebäudefuge trennt zwei Baukörper, die sich unterschiedlich verhalten. Holz arbeitet infolge von Feuchte und Temperatur, während ein bestehendes Massivbauteil meist träger reagiert. Wird diese Bewegung nicht berücksichtigt, können sich Verformungen auf den Bestand übertragen oder Risse, Knarzgeräusche und Schwindrisse entstehen. Besonders in Berlin ist das relevant, weil Bestandsgebäude häufig aus mehreren Bauphasen stammen und unterschiedliche Gründungen aufweisen können. Eine geplante Fuge berücksichtigt daher die erwarteten Bewegungen, mögliche Setzungen der neuen Gründung, die Breite für dauerelastige Materialien sowie die Zugänglichk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Gebäudefuge mehr als ein Spalt ist</a:t>
            </a:r>
          </a:p>
        </p:txBody>
      </p:sp>
      <p:sp>
        <p:nvSpPr>
          <p:cNvPr id="3" name="Content Placeholder 2"/>
          <p:cNvSpPr>
            <a:spLocks noGrp="1"/>
          </p:cNvSpPr>
          <p:nvPr>
            <p:ph idx="1"/>
          </p:nvPr>
        </p:nvSpPr>
        <p:spPr/>
        <p:txBody>
          <a:bodyPr/>
          <a:lstStyle/>
          <a:p>
            <a:pPr>
              <a:defRPr sz="1800"/>
            </a:pPr>
            <a:r>
              <a:t>eit für spätere Kontrollen. Ein weiterführender Ratgeber zum Thema Gebäudefuge und thermische Trennung fasst diese Zusammenhänge noch einmal zusammen.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Setzungen von Neubau und Bestand</a:t>
            </a:r>
          </a:p>
        </p:txBody>
      </p:sp>
      <p:sp>
        <p:nvSpPr>
          <p:cNvPr id="3" name="Content Placeholder 2"/>
          <p:cNvSpPr>
            <a:spLocks noGrp="1"/>
          </p:cNvSpPr>
          <p:nvPr>
            <p:ph idx="1"/>
          </p:nvPr>
        </p:nvSpPr>
        <p:spPr/>
        <p:txBody>
          <a:bodyPr/>
          <a:lstStyle/>
          <a:p>
            <a:pPr>
              <a:defRPr sz="1800"/>
            </a:pPr>
            <a:r>
              <a:t>Jede Gründung setzt sich, jedoch nicht zwangsläufig gleichmäßig oder in gleicher Größe. Beim Holzanbau trifft häufig eine neue Bodenplatte oder ein Streifenfundament auf ein Bestandsgebäude, dessen Setzung bereits weitgehend abgeschlossen ist. In den ersten Jahren kann der Neubau deshalb stärker nachgeben als der Altbau. Decke, Wand und Dach dürfen im Bereich der Verbindungsstelle nicht unverschieblich miteinander gekoppelt werden. Planerisch kann das durch klar getrennte Tragwerke mit eigener Lastableitung, elastische oder gleitende Anschlüsse sowie Beobachtungszeiträume nach Bauabschluss berücksichtigt werden. Entscheidend ist, Setzungsunte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Setzungen von Neubau und Bestand</a:t>
            </a:r>
          </a:p>
        </p:txBody>
      </p:sp>
      <p:sp>
        <p:nvSpPr>
          <p:cNvPr id="3" name="Content Placeholder 2"/>
          <p:cNvSpPr>
            <a:spLocks noGrp="1"/>
          </p:cNvSpPr>
          <p:nvPr>
            <p:ph idx="1"/>
          </p:nvPr>
        </p:nvSpPr>
        <p:spPr/>
        <p:txBody>
          <a:bodyPr/>
          <a:lstStyle/>
          <a:p>
            <a:pPr>
              <a:defRPr sz="1800"/>
            </a:pPr>
            <a:r>
              <a:t>rschiede früh zu bewerten und die gewählte Anschlussart darauf abzustimmen.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Thermische Trennung und typische Schwachstellen</a:t>
            </a:r>
          </a:p>
        </p:txBody>
      </p:sp>
      <p:sp>
        <p:nvSpPr>
          <p:cNvPr id="3" name="Content Placeholder 2"/>
          <p:cNvSpPr>
            <a:spLocks noGrp="1"/>
          </p:cNvSpPr>
          <p:nvPr>
            <p:ph idx="1"/>
          </p:nvPr>
        </p:nvSpPr>
        <p:spPr/>
        <p:txBody>
          <a:bodyPr/>
          <a:lstStyle/>
          <a:p>
            <a:pPr>
              <a:defRPr sz="1800"/>
            </a:pPr>
            <a:r>
              <a:t>Eine Fuge unterbricht die Lastübertragung, kann aber zugleich eine Wärmebrücke bilden, wenn Dämmung und Luftdichtheit an dieser Stelle unterbrochen werden. Die thermische Trennung sorgt dafür, dass die raumseitige Hülle des Anbaus an die Hülle des Bestands anschließt, ohne die konstruktive Trennung der Bauteile aufzuheben. Typische Schwachstellen liegen an der Sohlbank und im Sockelbereich, wo Spritzwasser und Kälte zusammentreffen, am Deckenanschluss, an dem die Dampfbremse sauber verbunden werden muss, sowie an Laibungen von Türen oder Durchgängen, in denen die Dämmebene unterbrochen wird. Hier müssen Dämmebene, luftdichte Ebene und Wetters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Thermische Trennung und typische Schwachstellen</a:t>
            </a:r>
          </a:p>
        </p:txBody>
      </p:sp>
      <p:sp>
        <p:nvSpPr>
          <p:cNvPr id="3" name="Content Placeholder 2"/>
          <p:cNvSpPr>
            <a:spLocks noGrp="1"/>
          </p:cNvSpPr>
          <p:nvPr>
            <p:ph idx="1"/>
          </p:nvPr>
        </p:nvSpPr>
        <p:spPr/>
        <p:txBody>
          <a:bodyPr/>
          <a:lstStyle/>
          <a:p>
            <a:pPr>
              <a:defRPr sz="1800"/>
            </a:pPr>
            <a:r>
              <a:t>chutz im Zusammenhang geplant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 als eine zusammenhängende Planungsaufgabe</a:t>
            </a:r>
          </a:p>
        </p:txBody>
      </p:sp>
      <p:sp>
        <p:nvSpPr>
          <p:cNvPr id="3" name="Content Placeholder 2"/>
          <p:cNvSpPr>
            <a:spLocks noGrp="1"/>
          </p:cNvSpPr>
          <p:nvPr>
            <p:ph idx="1"/>
          </p:nvPr>
        </p:nvSpPr>
        <p:spPr/>
        <p:txBody>
          <a:bodyPr/>
          <a:lstStyle/>
          <a:p>
            <a:pPr>
              <a:defRPr sz="1800"/>
            </a:pPr>
            <a:r>
              <a:t>Für die Planung ist eine klare Reihenfolge hilfreich: Trennen dort, wo gearbeitet wird; die Fuge muss Bewegungen schadensfrei aufnehmen. Dämmen dort, wo keine Bewegung erwartet wird; die Dämmebene umläuft die Bewegungslücke, überbrückt sie aber nicht statisch. Dichten dort, wo beides endet; Luftdichtheit und Wetterschutz schließen die Hüllen zusammen, ohne die Bauteile konstruktiv zu koppeln. Bei einer frühzeitigen Abstimmung mit dem Holzbaubetrieb lassen sich Gründung, Fuge und Hüllenanschluss gemeinsam beurteilen. Hilfreich sind dafür Angaben zur Lage, zur ungefähren Fläche und zur geplanten Nutzung des Anbaus. Weitere Hinweise zur Anschlus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 als eine zusammenhängende Planungsaufgabe</a:t>
            </a:r>
          </a:p>
        </p:txBody>
      </p:sp>
      <p:sp>
        <p:nvSpPr>
          <p:cNvPr id="3" name="Content Placeholder 2"/>
          <p:cNvSpPr>
            <a:spLocks noGrp="1"/>
          </p:cNvSpPr>
          <p:nvPr>
            <p:ph idx="1"/>
          </p:nvPr>
        </p:nvSpPr>
        <p:spPr/>
        <p:txBody>
          <a:bodyPr/>
          <a:lstStyle/>
          <a:p>
            <a:pPr>
              <a:defRPr sz="1800"/>
            </a:pPr>
            <a:r>
              <a:t>splanung finden sich im begleitenden Fachbeitrag.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Bauherren vorab klären sollten</a:t>
            </a:r>
          </a:p>
        </p:txBody>
      </p:sp>
      <p:sp>
        <p:nvSpPr>
          <p:cNvPr id="3" name="Content Placeholder 2"/>
          <p:cNvSpPr>
            <a:spLocks noGrp="1"/>
          </p:cNvSpPr>
          <p:nvPr>
            <p:ph idx="1"/>
          </p:nvPr>
        </p:nvSpPr>
        <p:spPr/>
        <p:txBody>
          <a:bodyPr/>
          <a:lstStyle/>
          <a:p>
            <a:pPr>
              <a:defRPr sz="1800"/>
            </a:pPr>
            <a:r>
              <a:t>Vor der Werkplanung sollten möglichst Pläne zur Gründung des Bestands vorliegen, damit Setzungsunterschiede abgeschätzt werden können. Außerdem sind die Bauteilaufbauten von Wand und Decke im Anschlussbereich wichtig, um Dämmung und Luftdichtheit sinnvoll führen zu können. Zu klären ist außerdem, ob die Fuge später einsehbar bleibt oder verkleidet wird. Davon hängt ab, ob Bewegungen kontrolliert werden können. Wer diese Fragen vorab beantwortet, behandelt den Übergang zwischen Bestand und Holzanbau nicht als lose Folge einzelner Details, sondern als abgestimmte Anschlussaufgabe.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Gebäudefuge und thermische Trennung beim Holzanbau: Fuge, Setzung und Wärmebrücke als Einheit denken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