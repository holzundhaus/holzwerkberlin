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berlin/-/blob/aeac3c5f3c950a6b3a665aa521091e4c203063ae/_posts/2026-10-26-holzterrassenuntergrund-berlin-untergrundarten-aufbauvarianten.md" TargetMode="External"/><Relationship Id="rId3" Type="http://schemas.openxmlformats.org/officeDocument/2006/relationships/hyperlink" Target="https://holzundhaus.github.io/holzwerkberlin/dateien/minimax-22bb1165e6fbdefe4ba760d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Holzterrassenuntergrund in Berlin: Untergrundarten und lastabtragende Aufbauvarianten · Erklärende Präsentation</a:t>
            </a:r>
          </a:p>
        </p:txBody>
      </p:sp>
      <p:sp>
        <p:nvSpPr>
          <p:cNvPr id="3" name="Content Placeholder 2"/>
          <p:cNvSpPr>
            <a:spLocks noGrp="1"/>
          </p:cNvSpPr>
          <p:nvPr>
            <p:ph idx="1"/>
          </p:nvPr>
        </p:nvSpPr>
        <p:spPr/>
        <p:txBody>
          <a:bodyPr/>
          <a:lstStyle/>
          <a:p>
            <a:r>
              <a:t>Überblick: Wer in Berlin eine Holzterrasse plant, sollte den sichtbaren Dielen erst nach einer Bestandsaufnahme des Untergrunds auswählen. Denn Aufbau, Entwässerung und Unterkonstruktion funktionieren nur dann zuverlässig zusammen, wenn die vorhandenen Höhen, der Untergrund und die geplante Nutzung berücksichtigt sind. Der folgende Leitfaden ordnet typische Untergrundarten ein und zeigt, welche Fragen vor dem Angebot geklärt werden sollten. Er ersetzt keine Prüfung der örtlichen Verhältnisse, unterstützt aber dabei, den passenden Aufbau frühzeitig zu 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zuerst richtig einordnen</a:t>
            </a:r>
          </a:p>
        </p:txBody>
      </p:sp>
      <p:sp>
        <p:nvSpPr>
          <p:cNvPr id="3" name="Content Placeholder 2"/>
          <p:cNvSpPr>
            <a:spLocks noGrp="1"/>
          </p:cNvSpPr>
          <p:nvPr>
            <p:ph idx="1"/>
          </p:nvPr>
        </p:nvSpPr>
        <p:spPr/>
        <p:txBody>
          <a:bodyPr/>
          <a:lstStyle/>
          <a:p>
            <a:pPr>
              <a:defRPr sz="1800"/>
            </a:pPr>
            <a:r>
              <a:t>Unter einer Holzterrasse wirken mehrere Schichten zusammen: Der Untergrund nimmt die Lasten auf, eine lastabtragende Lage verteilt sie, und die Unterkonstruktion trägt den Belag. Dazu kommt die Entwässerung, die weder die Türschwelle belasten noch Feuchtigkeit unter den Holzflächen stehen lassen sollte. Auf Berliner Grundstücken kommen Betonplatten, verdichteter Schotter oder Kies sowie bereits eingebaute Splittschichten vor. Entscheidend ist deshalb nicht nur die sichtbare Oberfläche, sondern deren Tragfähigkeit, Durchlässigkeit und Höhenlage. Eine genaue Aufmaßnahme klärt außerdem, wie viel Raum zwischen Untergrund, Unterkonstruktion und 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zuerst richtig einordnen</a:t>
            </a:r>
          </a:p>
        </p:txBody>
      </p:sp>
      <p:sp>
        <p:nvSpPr>
          <p:cNvPr id="3" name="Content Placeholder 2"/>
          <p:cNvSpPr>
            <a:spLocks noGrp="1"/>
          </p:cNvSpPr>
          <p:nvPr>
            <p:ph idx="1"/>
          </p:nvPr>
        </p:nvSpPr>
        <p:spPr/>
        <p:txBody>
          <a:bodyPr/>
          <a:lstStyle/>
          <a:p>
            <a:pPr>
              <a:defRPr sz="1800"/>
            </a:pPr>
            <a:r>
              <a:t>elenoberkante zur Verfügung steht.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Beton, Schotter und Splitt verlangen unterschiedliche Lösungen</a:t>
            </a:r>
          </a:p>
        </p:txBody>
      </p:sp>
      <p:sp>
        <p:nvSpPr>
          <p:cNvPr id="3" name="Content Placeholder 2"/>
          <p:cNvSpPr>
            <a:spLocks noGrp="1"/>
          </p:cNvSpPr>
          <p:nvPr>
            <p:ph idx="1"/>
          </p:nvPr>
        </p:nvSpPr>
        <p:spPr/>
        <p:txBody>
          <a:bodyPr/>
          <a:lstStyle/>
          <a:p>
            <a:pPr>
              <a:defRPr sz="1800"/>
            </a:pPr>
            <a:r>
              <a:t>Eine massive Betonplatte oder Sohle bietet eine ebene und tragfähige Grundlage. Da sie Wasser nicht selbst ableitet, wird das Gefälle vom Gebäude weg geplant. Bei einem durchlässigen Schotter- oder Kiesuntergrund kann Regenwasser grundsätzlich versickern, sofern die örtlichen Bodenverhältnisse dies zulassen. Ein Splittbett übernimmt zugleich die lastabtragende und drainierende Funktion. Seine Körnung und verdichtete Einbaulage beeinflussen Stabilität und Wasserdurchlässigkeit. Vor der Auswahl sollte daher geklärt werden, ob der vorhandene Untergrund bereits tragfähig vorbereitet ist oder ob zunächst eine eigene lastabtragende Ebene hergestell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Beton, Schotter und Splitt verlangen unterschiedliche Lösungen</a:t>
            </a:r>
          </a:p>
        </p:txBody>
      </p:sp>
      <p:sp>
        <p:nvSpPr>
          <p:cNvPr id="3" name="Content Placeholder 2"/>
          <p:cNvSpPr>
            <a:spLocks noGrp="1"/>
          </p:cNvSpPr>
          <p:nvPr>
            <p:ph idx="1"/>
          </p:nvPr>
        </p:nvSpPr>
        <p:spPr/>
        <p:txBody>
          <a:bodyPr/>
          <a:lstStyle/>
          <a:p>
            <a:pPr>
              <a:defRPr sz="1800"/>
            </a:pPr>
            <a:r>
              <a:t>t werden muss.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Anschluss ans Gebäude abstimmen</a:t>
            </a:r>
          </a:p>
        </p:txBody>
      </p:sp>
      <p:sp>
        <p:nvSpPr>
          <p:cNvPr id="3" name="Content Placeholder 2"/>
          <p:cNvSpPr>
            <a:spLocks noGrp="1"/>
          </p:cNvSpPr>
          <p:nvPr>
            <p:ph idx="1"/>
          </p:nvPr>
        </p:nvSpPr>
        <p:spPr/>
        <p:txBody>
          <a:bodyPr/>
          <a:lstStyle/>
          <a:p>
            <a:pPr>
              <a:defRPr sz="1800"/>
            </a:pPr>
            <a:r>
              <a:t>Die Aufbauhöhe ergibt sich aus der Summe aller Schichten bis zur Oberkante des Belags. Besonders wichtig ist der Übergang zur Terrassentür: Eine zu niedrige Ausführung kann Wasser ins Gebäude führen, eine zu hohe erschwert Anschlüsse, Geländer oder Wege zu benachbarten Flächen. Bei variablem Untergrund schafft ein Splittbett unterschiedliche Höhen, während Stelzlager auf einer vorhandenen Fläche einen gezielten Höhenausgleich ermöglichen. Stelzlager sind besonders dort sinnvoll, wo bereits eine Betonfläche vorhanden ist und zwischen Unterkonstruktion und Boden ein definierter Abstand bleiben soll. Die endgültige Aufbauhöhe sollte deshalb geme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Anschluss ans Gebäude abstimmen</a:t>
            </a:r>
          </a:p>
        </p:txBody>
      </p:sp>
      <p:sp>
        <p:nvSpPr>
          <p:cNvPr id="3" name="Content Placeholder 2"/>
          <p:cNvSpPr>
            <a:spLocks noGrp="1"/>
          </p:cNvSpPr>
          <p:nvPr>
            <p:ph idx="1"/>
          </p:nvPr>
        </p:nvSpPr>
        <p:spPr/>
        <p:txBody>
          <a:bodyPr/>
          <a:lstStyle/>
          <a:p>
            <a:pPr>
              <a:defRPr sz="1800"/>
            </a:pPr>
            <a:r>
              <a:t>insam mit dem vorhandenen Höhenprofil festgelegt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Nutzlast und Unterkonstruktion gemeinsam betrachten</a:t>
            </a:r>
          </a:p>
        </p:txBody>
      </p:sp>
      <p:sp>
        <p:nvSpPr>
          <p:cNvPr id="3" name="Content Placeholder 2"/>
          <p:cNvSpPr>
            <a:spLocks noGrp="1"/>
          </p:cNvSpPr>
          <p:nvPr>
            <p:ph idx="1"/>
          </p:nvPr>
        </p:nvSpPr>
        <p:spPr/>
        <p:txBody>
          <a:bodyPr/>
          <a:lstStyle/>
          <a:p>
            <a:pPr>
              <a:defRPr sz="1800"/>
            </a:pPr>
            <a:r>
              <a:t>Die Unterkonstruktion muss neben dem Eigengewicht des Belags auch spätere Nutzlasten wie Personen, Möbel oder Pflanzübel abtragen. Dafür kommen je nach Aufbau druckfeste Kanthölzer, Aluminiumprofile oder kunststoffummantelte Metallschienen infrage. Ihre Eignung hängt nicht allein vom Material ab, sondern auch von Feuchtigkeit, Aufbauhöhe und der gewünschten Nutzung. Wichtig ist außerdem, ob die Terrasse später überdacht werden soll, weil eine Überdachung zusätzliche Stützenlasten erzeugen kann. Diese Möglichkeit sollte frühzeitig mit dem Fachbetrieb besprochen werden, damit die lastabtragende Schicht und die Unterkonstruktion nicht nur für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Nutzlast und Unterkonstruktion gemeinsam betrachten</a:t>
            </a:r>
          </a:p>
        </p:txBody>
      </p:sp>
      <p:sp>
        <p:nvSpPr>
          <p:cNvPr id="3" name="Content Placeholder 2"/>
          <p:cNvSpPr>
            <a:spLocks noGrp="1"/>
          </p:cNvSpPr>
          <p:nvPr>
            <p:ph idx="1"/>
          </p:nvPr>
        </p:nvSpPr>
        <p:spPr/>
        <p:txBody>
          <a:bodyPr/>
          <a:lstStyle/>
          <a:p>
            <a:pPr>
              <a:defRPr sz="1800"/>
            </a:pPr>
            <a:r>
              <a:t>n aktuellen, sondern auch für den vorgesehenen Zustand ausgelegt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Drainage vor der Belegung klären</a:t>
            </a:r>
          </a:p>
        </p:txBody>
      </p:sp>
      <p:sp>
        <p:nvSpPr>
          <p:cNvPr id="3" name="Content Placeholder 2"/>
          <p:cNvSpPr>
            <a:spLocks noGrp="1"/>
          </p:cNvSpPr>
          <p:nvPr>
            <p:ph idx="1"/>
          </p:nvPr>
        </p:nvSpPr>
        <p:spPr/>
        <p:txBody>
          <a:bodyPr/>
          <a:lstStyle/>
          <a:p>
            <a:pPr>
              <a:defRPr sz="1800"/>
            </a:pPr>
            <a:r>
              <a:t>Die Entwässerung wird bereits auf Ebene des Untergrunds geplant, nicht erst mit dem Einbau eines Ablaufs. Auf einer dichten Betonplatte benötigt die Fläche ein geeignetes Gefälle und einen klaren Wasserweg. Bei durchlässigem Untergrund ist zu prüfen, ob eine Versickerung tatsächlich möglich ist. Unter der Unterkonstruktion kann zusätzlich ein Fugenband oder eine Drainagematte Wasser seitlich ableiten. Diese Maßnahme schützt die Holzbauteile vor anhaltender Feuchtigkeit. Für die weitere Abstimmung bietet die Übersicht zum Holzterrassenuntergrund in Berlin sowie zu den Untergrundarten und Aufbauvarianten eine vertraute Grundlage. Vor Beginn sol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Drainage vor der Belegung klären</a:t>
            </a:r>
          </a:p>
        </p:txBody>
      </p:sp>
      <p:sp>
        <p:nvSpPr>
          <p:cNvPr id="3" name="Content Placeholder 2"/>
          <p:cNvSpPr>
            <a:spLocks noGrp="1"/>
          </p:cNvSpPr>
          <p:nvPr>
            <p:ph idx="1"/>
          </p:nvPr>
        </p:nvSpPr>
        <p:spPr/>
        <p:txBody>
          <a:bodyPr/>
          <a:lstStyle/>
          <a:p>
            <a:pPr>
              <a:defRPr sz="1800"/>
            </a:pPr>
            <a:r>
              <a:t>lten Untergrundart, Maße, Anschlusshöhe, Entwässerung, Nutzung und mögliche spätere Ergänzungen dokumentiert und vor Ort geprüft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Holzterrassenuntergrund in Berlin: Untergrundarten und lastabtragende Aufbauvarianten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