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blogspot.com/2026/10/endabnahme-und-mangeldokumentation-bei.html" TargetMode="External"/><Relationship Id="rId3" Type="http://schemas.openxmlformats.org/officeDocument/2006/relationships/hyperlink" Target="https://holzundhaus.github.io/holzwerkberlin/dateien/minimax-a4c4b7cba1af6ae675f42b9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Endabnahme und Mängeldokumentation bei Holzarbeiten: Schritt für Schritt · Erklärende Präsentation</a:t>
            </a:r>
          </a:p>
        </p:txBody>
      </p:sp>
      <p:sp>
        <p:nvSpPr>
          <p:cNvPr id="3" name="Content Placeholder 2"/>
          <p:cNvSpPr>
            <a:spLocks noGrp="1"/>
          </p:cNvSpPr>
          <p:nvPr>
            <p:ph idx="1"/>
          </p:nvPr>
        </p:nvSpPr>
        <p:spPr/>
        <p:txBody>
          <a:bodyPr/>
          <a:lstStyle/>
          <a:p>
            <a:r>
              <a:t>Überblick: Die Endabnahme ist mehr als ein Termin auf der Baustelle: Sie dokumentiert den Zustand der fertigen Holzarbeiten, klärt offene Punkte und schafft eine belastbare Grundlage für die weitere Projektbetreuung. Dieser praktische Leitfaden begleitet die Vorbereitung, die Prüfung vor Ort und die Nachbereitung. Für einen zusätzlichen Überblick bietet der Beitrag Endabnahme bei Holzarbeiten einen passenden Einstieg in die wichtigsten Abnahmeschritte.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Begehung: Unterlagen und Zugang klären</a:t>
            </a:r>
          </a:p>
        </p:txBody>
      </p:sp>
      <p:sp>
        <p:nvSpPr>
          <p:cNvPr id="3" name="Content Placeholder 2"/>
          <p:cNvSpPr>
            <a:spLocks noGrp="1"/>
          </p:cNvSpPr>
          <p:nvPr>
            <p:ph idx="1"/>
          </p:nvPr>
        </p:nvSpPr>
        <p:spPr/>
        <p:txBody>
          <a:bodyPr/>
          <a:lstStyle/>
          <a:p>
            <a:pPr>
              <a:defRPr sz="1800"/>
            </a:pPr>
            <a:r>
              <a:t>Für eine strukturierte Endabnahme sollten die vereinbarten Holzarbeiten vollständig abgeschlossen sein. Dazu gehören auch Rest- und Nebenleistungen sowie vereinbarte Oberflächenbehandlungen. Pläne, Leistungsverzeichnis und gegebenenfalls Nachträge sollten in aktueller Fassung vorliegen. Vor Ort sind außerdem ausreichend Platz, gute Beleuchtung und bei Bedarf ein Gerät für die Sichtprüfung einzuplanen. Ein Notizblock oder ein vorbereitetes Formular erleichtert das Protokoll. Sinnvoll ist außerdem, die Reihenfolge der Begehung vorher festzulegen. Messwerkzeug, Taschenlampe, Leiter und ein Gerät für Fotos können dabei helfen, einzelne Bauteile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Begehung: Unterlagen und Zugang klären</a:t>
            </a:r>
          </a:p>
        </p:txBody>
      </p:sp>
      <p:sp>
        <p:nvSpPr>
          <p:cNvPr id="3" name="Content Placeholder 2"/>
          <p:cNvSpPr>
            <a:spLocks noGrp="1"/>
          </p:cNvSpPr>
          <p:nvPr>
            <p:ph idx="1"/>
          </p:nvPr>
        </p:nvSpPr>
        <p:spPr/>
        <p:txBody>
          <a:bodyPr/>
          <a:lstStyle/>
          <a:p>
            <a:pPr>
              <a:defRPr sz="1800"/>
            </a:pPr>
            <a:r>
              <a:t>nd Stellpunkte nachvollziehbar zu erfassen.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Funktionsprüfung miteinander verbinden</a:t>
            </a:r>
          </a:p>
        </p:txBody>
      </p:sp>
      <p:sp>
        <p:nvSpPr>
          <p:cNvPr id="3" name="Content Placeholder 2"/>
          <p:cNvSpPr>
            <a:spLocks noGrp="1"/>
          </p:cNvSpPr>
          <p:nvPr>
            <p:ph idx="1"/>
          </p:nvPr>
        </p:nvSpPr>
        <p:spPr/>
        <p:txBody>
          <a:bodyPr/>
          <a:lstStyle/>
          <a:p>
            <a:pPr>
              <a:defRPr sz="1800"/>
            </a:pPr>
            <a:r>
              <a:t>Bei der Sichtprüfung werden die sichtbaren Holzbauteile einzeln von außen nach innen und von oben nach unten begangen. Zu prüfen sind etwa Holzart, Oberflächenbehandlung und Farbton sowie Risse, Verformungen, Astlöcher und Harzgallen im vertraglich vereinbarten Rahmen. Auch Anschlüsse zu Mauerwerk, Dach oder Fenstern gehören aufgenommen, ebenso Tropfkanten, Gefälle und Details zur Wasserführung im Außenbereich. Stellen, die nach Regen länger feucht bleiben, sollten sachlich und ohne Wertung notiert werden. Anschließend folgt die Funktionsprüfung: Türen, Fenster, Klappen und Lüftungselemente werden bewegt, Beschläge, Schlösser und Dichtungen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Funktionsprüfung miteinander verbinden</a:t>
            </a:r>
          </a:p>
        </p:txBody>
      </p:sp>
      <p:sp>
        <p:nvSpPr>
          <p:cNvPr id="3" name="Content Placeholder 2"/>
          <p:cNvSpPr>
            <a:spLocks noGrp="1"/>
          </p:cNvSpPr>
          <p:nvPr>
            <p:ph idx="1"/>
          </p:nvPr>
        </p:nvSpPr>
        <p:spPr/>
        <p:txBody>
          <a:bodyPr/>
          <a:lstStyle/>
          <a:p>
            <a:pPr>
              <a:defRPr sz="1800"/>
            </a:pPr>
            <a:r>
              <a:t>uf Funktion und Vollständigkeit geprüft. Bei Bedachungen, Vordächern und Terrassenüberdachungen ist zudem auf einen freien Wasserablauf zu achten. Zwei Personen können sich hier ergänzen: Eine Person bedient, die andere beobachtet und beschreibt.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Restleistungen, Mängel und Wünsche sauber trennen</a:t>
            </a:r>
          </a:p>
        </p:txBody>
      </p:sp>
      <p:sp>
        <p:nvSpPr>
          <p:cNvPr id="3" name="Content Placeholder 2"/>
          <p:cNvSpPr>
            <a:spLocks noGrp="1"/>
          </p:cNvSpPr>
          <p:nvPr>
            <p:ph idx="1"/>
          </p:nvPr>
        </p:nvSpPr>
        <p:spPr/>
        <p:txBody>
          <a:bodyPr/>
          <a:lstStyle/>
          <a:p>
            <a:pPr>
              <a:defRPr sz="1800"/>
            </a:pPr>
            <a:r>
              <a:t>Nicht jeder offene Punkt ist ein Mangel. Eine Restleistung ist vertraglich vereinbart, aber noch nicht ausgeführt; für sie fehlt häufig nur der Termin. Ein Mangel liegt dagegen vor, wenn eine erbrachte Leistung von der vereinbarten Beschaffenheit abweicht. Wünsche nach zusätzlichen Leistungen außerhalb des Vertrags sollten separat aufgeführt und gegebenenfalls gesondert beauftragt werden. Diese klare Abgrenzung verhindert, dass echte Mängel in einer Wunschliste untergehen oder zusätzliche Wünsche automatisch als Mangel erscheinen. In der Dokumentation empfiehlt sich deshalb für jeden offenen Punkt eine eindeutige Kategorie, eine kurze Beschre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Restleistungen, Mängel und Wünsche sauber trennen</a:t>
            </a:r>
          </a:p>
        </p:txBody>
      </p:sp>
      <p:sp>
        <p:nvSpPr>
          <p:cNvPr id="3" name="Content Placeholder 2"/>
          <p:cNvSpPr>
            <a:spLocks noGrp="1"/>
          </p:cNvSpPr>
          <p:nvPr>
            <p:ph idx="1"/>
          </p:nvPr>
        </p:nvSpPr>
        <p:spPr/>
        <p:txBody>
          <a:bodyPr/>
          <a:lstStyle/>
          <a:p>
            <a:pPr>
              <a:defRPr sz="1800"/>
            </a:pPr>
            <a:r>
              <a:t>ibung sowie den nächsten vereinbarten Schritt.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Mängelprotokoll: sachlich, konkret und nachvollziehbar</a:t>
            </a:r>
          </a:p>
        </p:txBody>
      </p:sp>
      <p:sp>
        <p:nvSpPr>
          <p:cNvPr id="3" name="Content Placeholder 2"/>
          <p:cNvSpPr>
            <a:spLocks noGrp="1"/>
          </p:cNvSpPr>
          <p:nvPr>
            <p:ph idx="1"/>
          </p:nvPr>
        </p:nvSpPr>
        <p:spPr/>
        <p:txBody>
          <a:bodyPr/>
          <a:lstStyle/>
          <a:p>
            <a:pPr>
              <a:defRPr sz="1800"/>
            </a:pPr>
            <a:r>
              <a:t>Das Mängelprotokoll ist die zentrale Akte der Abnahme und sollte möglichst vor Ort gemeinsam unterzeichnet werden. Jeder Eintrag benötigt eine genaue Bezeichnung des Bauteils und seiner Position, möglichst mit Bezug zu Raum oder Fassade. Danach folgt eine knappe, sachliche Beschreibung des Sachverhalts. Hilfreich sind außerdem ein Foto oder eine Skizze mit Datum sowie die vereinbarte Frist zur Mängelbeseitigung. Pauschale Formulierungen wie „nicht in Ordnung“ oder „mangelhaft“ erschweren die spätere Nachprüfung. Besser ist eine konkrete Beschreibung, beispielsweise zu einer offenen Fuge in einem bestimmten Anschlussbereich. Neben den Mängeln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Mängelprotokoll: sachlich, konkret und nachvollziehbar</a:t>
            </a:r>
          </a:p>
        </p:txBody>
      </p:sp>
      <p:sp>
        <p:nvSpPr>
          <p:cNvPr id="3" name="Content Placeholder 2"/>
          <p:cNvSpPr>
            <a:spLocks noGrp="1"/>
          </p:cNvSpPr>
          <p:nvPr>
            <p:ph idx="1"/>
          </p:nvPr>
        </p:nvSpPr>
        <p:spPr/>
        <p:txBody>
          <a:bodyPr/>
          <a:lstStyle/>
          <a:p>
            <a:pPr>
              <a:defRPr sz="1800"/>
            </a:pPr>
            <a:r>
              <a:t>sollten im Protokoll auch das Abnahmedatum, gegebenenfalls ein Vorbehalt, die nächste Begehung oder Beseitigungsfrist und die beteiligten Personen beziehungsweise Stellen vermerkt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Abnahme: Beseitigung und Abschluss begleiten</a:t>
            </a:r>
          </a:p>
        </p:txBody>
      </p:sp>
      <p:sp>
        <p:nvSpPr>
          <p:cNvPr id="3" name="Content Placeholder 2"/>
          <p:cNvSpPr>
            <a:spLocks noGrp="1"/>
          </p:cNvSpPr>
          <p:nvPr>
            <p:ph idx="1"/>
          </p:nvPr>
        </p:nvSpPr>
        <p:spPr/>
        <p:txBody>
          <a:bodyPr/>
          <a:lstStyle/>
          <a:p>
            <a:pPr>
              <a:defRPr sz="1800"/>
            </a:pPr>
            <a:r>
              <a:t>Nach der Endabnahme endet die Dokumentation nicht. Nach Abschluss der Mängelbeseitigung ist eine kurze Folgebegehung sinnvoll, bei der die betroffenen Stellen erneut geprüft und die Ergebnisse in einem Abnahmeprotokoll zur Mängelbeseitigung festgehalten werden. Hilfreiche Unterlagen sind das Originalprotokoll sowie Fotos derselben Stellen vor und nach der Beseitigung. Eine schriftliche Bestätigung des Auftragnehmers ergänzt die Akte. Bleiben Punkte offen, sollten sie mit einer neuen Frist erneut erfasst werden. Die zusätzliche Mängeldokumentation bei Holzarbeiten zeigt, wie aus dem Abnahmetermin eine nachvollziehbare Dokumentation für Auftrag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Abnahme: Beseitigung und Abschluss begleiten</a:t>
            </a:r>
          </a:p>
        </p:txBody>
      </p:sp>
      <p:sp>
        <p:nvSpPr>
          <p:cNvPr id="3" name="Content Placeholder 2"/>
          <p:cNvSpPr>
            <a:spLocks noGrp="1"/>
          </p:cNvSpPr>
          <p:nvPr>
            <p:ph idx="1"/>
          </p:nvPr>
        </p:nvSpPr>
        <p:spPr/>
        <p:txBody>
          <a:bodyPr/>
          <a:lstStyle/>
          <a:p>
            <a:pPr>
              <a:defRPr sz="1800"/>
            </a:pPr>
            <a:r>
              <a:t>geber, Betrieb und spätere Projektbeteiligte entsteht.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Endabnahme und Mängeldokumentation bei Holzarbeiten: Schritt für Schritt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