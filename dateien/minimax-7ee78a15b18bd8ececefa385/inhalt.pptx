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werkberlin/bestandsaufnahme-vor-der-holzfassadensanierung-voruntersuchungen/" TargetMode="External"/><Relationship Id="rId3" Type="http://schemas.openxmlformats.org/officeDocument/2006/relationships/hyperlink" Target="https://holzundhaus.github.io/holzwerkberlin/dateien/minimax-7ee78a15b18bd8ececefa38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Bestandsaufnahme vor der Holzfassadensanierung: Voruntersuchungen, die die Planung tragen · Erklärende Präsentation</a:t>
            </a:r>
          </a:p>
        </p:txBody>
      </p:sp>
      <p:sp>
        <p:nvSpPr>
          <p:cNvPr id="3" name="Content Placeholder 2"/>
          <p:cNvSpPr>
            <a:spLocks noGrp="1"/>
          </p:cNvSpPr>
          <p:nvPr>
            <p:ph idx="1"/>
          </p:nvPr>
        </p:nvSpPr>
        <p:spPr/>
        <p:txBody>
          <a:bodyPr/>
          <a:lstStyle/>
          <a:p>
            <a:r>
              <a:t>Überblick: Bei der Sanierung einer Holzfassade entscheidet nicht zuerst die gewünschte Optik über das System, sondern der vorhandene Zustand. Eine systematische Bestandsaufnahme vor dem Öffnen der Bekleidung schafft die Grundlage für tragfähige Anschlüsse, einen funktionierenden Wandaufbau und realistische Entscheidungen. Die folgenden Fragen helfen dabei, typische Schwachstellen früh zu erkennen und die weiteren Planungen gezielt vorzubereiten.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Bestandteile müssen vor der Demontage geprüft werden?</a:t>
            </a:r>
          </a:p>
        </p:txBody>
      </p:sp>
      <p:sp>
        <p:nvSpPr>
          <p:cNvPr id="3" name="Content Placeholder 2"/>
          <p:cNvSpPr>
            <a:spLocks noGrp="1"/>
          </p:cNvSpPr>
          <p:nvPr>
            <p:ph idx="1"/>
          </p:nvPr>
        </p:nvSpPr>
        <p:spPr/>
        <p:txBody>
          <a:bodyPr/>
          <a:lstStyle/>
          <a:p>
            <a:pPr>
              <a:defRPr sz="1800"/>
            </a:pPr>
            <a:r>
              <a:t>Zu Beginn gehören Profilart, Holzart, Sortierung und Oberflächenbehandlung der Bestandsfassade ebenso zur Aufnahme wie erkennbare Schäden. Dazu zählen Risse, Verformungen, Abplatzungen, Ausblühungen, Pilz- oder Insektenbefall sowie morsche Bereiche. Auch die Unterkonstruktion sollte vor der Demontage sichtbar und möglichst vollständig erfasst werden: Lattungsart und -abstand, Befestigungen, Korrosion, Fäulnis, Konterlattung und vorhandene Tropfkanten oder Abstandhalter. Diese Informationen zeigen, welche Teile wiederverwendet werden können und wo bereits Feuchte- oder Stabilitätsprobleme bestehen. Die Übersicht auf der Hauptseite zu Zustand 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Bestandteile müssen vor der Demontage geprüft werden?</a:t>
            </a:r>
          </a:p>
        </p:txBody>
      </p:sp>
      <p:sp>
        <p:nvSpPr>
          <p:cNvPr id="3" name="Content Placeholder 2"/>
          <p:cNvSpPr>
            <a:spLocks noGrp="1"/>
          </p:cNvSpPr>
          <p:nvPr>
            <p:ph idx="1"/>
          </p:nvPr>
        </p:nvSpPr>
        <p:spPr/>
        <p:txBody>
          <a:bodyPr/>
          <a:lstStyle/>
          <a:p>
            <a:pPr>
              <a:defRPr sz="1800"/>
            </a:pPr>
            <a:r>
              <a:t>nd Anschlüssen lässt sich so durch eine konkrete Prüfliste für die eigene Fassade ergänzen.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wird der Befestigungsuntergrund untersucht?</a:t>
            </a:r>
          </a:p>
        </p:txBody>
      </p:sp>
      <p:sp>
        <p:nvSpPr>
          <p:cNvPr id="3" name="Content Placeholder 2"/>
          <p:cNvSpPr>
            <a:spLocks noGrp="1"/>
          </p:cNvSpPr>
          <p:nvPr>
            <p:ph idx="1"/>
          </p:nvPr>
        </p:nvSpPr>
        <p:spPr/>
        <p:txBody>
          <a:bodyPr/>
          <a:lstStyle/>
          <a:p>
            <a:pPr>
              <a:defRPr sz="1800"/>
            </a:pPr>
            <a:r>
              <a:t>Der Untergrund bestimmt, welche Befestigungen und Lastannahmen für die neue Holzkonstruktion infrage kommen. Massivbauwerk, Mischbauweise und Holzständer weisen unterschiedliche Voraussetzungen auf. Deshalb sollten Wandmaterial, Ebenheit, Lot und Tragfähigkeit sowie vorhandene Schrauben, Dübel und Verankerungen dokumentiert werden. Unebenheiten beeinflussen die Lattungstiefe und damit auch die Hinterlüftungsebene. Die Prüfung ersetzt keine statische oder fachplanerische Bewertung, schafft aber die nötige Ausgangsinformation für die weitere Systemwahl. Ein nützlicher Leitfaden ist der weiterführende Ratgeber zur Bestandsaufnahme, der diese Zus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wird der Befestigungsuntergrund untersucht?</a:t>
            </a:r>
          </a:p>
        </p:txBody>
      </p:sp>
      <p:sp>
        <p:nvSpPr>
          <p:cNvPr id="3" name="Content Placeholder 2"/>
          <p:cNvSpPr>
            <a:spLocks noGrp="1"/>
          </p:cNvSpPr>
          <p:nvPr>
            <p:ph idx="1"/>
          </p:nvPr>
        </p:nvSpPr>
        <p:spPr/>
        <p:txBody>
          <a:bodyPr/>
          <a:lstStyle/>
          <a:p>
            <a:pPr>
              <a:defRPr sz="1800"/>
            </a:pPr>
            <a:r>
              <a:t>ammenhang vertieft.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wichtig sind Hinterlüftung und Wasserführung?</a:t>
            </a:r>
          </a:p>
        </p:txBody>
      </p:sp>
      <p:sp>
        <p:nvSpPr>
          <p:cNvPr id="3" name="Content Placeholder 2"/>
          <p:cNvSpPr>
            <a:spLocks noGrp="1"/>
          </p:cNvSpPr>
          <p:nvPr>
            <p:ph idx="1"/>
          </p:nvPr>
        </p:nvSpPr>
        <p:spPr/>
        <p:txBody>
          <a:bodyPr/>
          <a:lstStyle/>
          <a:p>
            <a:pPr>
              <a:defRPr sz="1800"/>
            </a:pPr>
            <a:r>
              <a:t>Zwischen Bekleidung und Wand liegt das technische Rückgrat der Fassade. Deshalb gehören Tiefe und Durchgängigkeit des Belüftungsraums sowie Zu- und Abluftöffnungen am Sockel und oberen Abschluss in die Bestandsaufnahme. Auch das Gefälle vom Gebäude weg, vorhandene Drainage oder ein Kiesbett sowie die Wasserführung an Terrassen und Eingangspodesten sind zu prüfen. Fehlt ein durchgängiger Luftraum oder sind die Öffnungen nicht vorhanden, muss dieser Zustand bei der Sanierungsplanung berücksichtigt werden. So lässt sich früh klären, welche Eingriffe in den Wandaufbau erforderlich sind und wo Regenwasser kontrolliert abgeführt werden muss.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Anschlüsse verdienen besondere Aufmerksamkeit?</a:t>
            </a:r>
          </a:p>
        </p:txBody>
      </p:sp>
      <p:sp>
        <p:nvSpPr>
          <p:cNvPr id="3" name="Content Placeholder 2"/>
          <p:cNvSpPr>
            <a:spLocks noGrp="1"/>
          </p:cNvSpPr>
          <p:nvPr>
            <p:ph idx="1"/>
          </p:nvPr>
        </p:nvSpPr>
        <p:spPr/>
        <p:txBody>
          <a:bodyPr/>
          <a:lstStyle/>
          <a:p>
            <a:pPr>
              <a:defRPr sz="1800"/>
            </a:pPr>
            <a:r>
              <a:t>Fenster, Türen, Dach, Ecken und Durchdringungen bilden die besonders gefährdeten Übergänge der Fassadenhülle. Zu untersuchen sind Laibung, Sohlbank, Brüstung, Schwellenhöhe, Bodenanschluss, Trauf- und Ortgangbereich, Übergänge zu Dachüberständen sowie die Anschlüsse von Regenrinnen und Fallrohren. Auch Außenleuchten, Lüftungsgitter, Steckdosen, Fallrohrbefestigungen und Markisenkonsolen können Schwachstellen darstellen. Für jedes Detail sollten vorhandene Bleche, Putzanschlüsse oder Verleistungen, Abstände, Stöße und mögliche Verformungen erfasst werden. Diese Checkliste hilft, einzelne Problemstellen nicht nur visuell zu bewerten, sondern si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Anschlüsse verdienen besondere Aufmerksamkeit?</a:t>
            </a:r>
          </a:p>
        </p:txBody>
      </p:sp>
      <p:sp>
        <p:nvSpPr>
          <p:cNvPr id="3" name="Content Placeholder 2"/>
          <p:cNvSpPr>
            <a:spLocks noGrp="1"/>
          </p:cNvSpPr>
          <p:nvPr>
            <p:ph idx="1"/>
          </p:nvPr>
        </p:nvSpPr>
        <p:spPr/>
        <p:txBody>
          <a:bodyPr/>
          <a:lstStyle/>
          <a:p>
            <a:pPr>
              <a:defRPr sz="1800"/>
            </a:pPr>
            <a:r>
              <a:t>e in die weitere Planung zu überführen.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sollte vor der Planung zusammengestellt werden?</a:t>
            </a:r>
          </a:p>
        </p:txBody>
      </p:sp>
      <p:sp>
        <p:nvSpPr>
          <p:cNvPr id="3" name="Content Placeholder 2"/>
          <p:cNvSpPr>
            <a:spLocks noGrp="1"/>
          </p:cNvSpPr>
          <p:nvPr>
            <p:ph idx="1"/>
          </p:nvPr>
        </p:nvSpPr>
        <p:spPr/>
        <p:txBody>
          <a:bodyPr/>
          <a:lstStyle/>
          <a:p>
            <a:pPr>
              <a:defRPr sz="1800"/>
            </a:pPr>
            <a:r>
              <a:t>Eine belastbare Unterlage enthält eine Skizze der Fassade mit Maßen, Fenstern, Türen und angrenzenden Bauteilen. Ergänzt werden Angaben zum bekannten Wandaufbau, zur gewünschten Profilrichtung, zu bekannten Schäden mit Lage und Ausdehnung sowie zu Sockelhöhe, Spritzwasserschutz und Geländeverlauf. Für die spätere Ausführung sind außerdem Zugang, Zufahrt und verfügbare Lagerflächen relevant. Mit diesen Angaben lässt sich die Bestandsaufnahme gezielt vertiefen. Genehmigungen, erforderliche Nachweise und konkrete Vorgaben müssen anschließend mit den zuständigen Stellen abgestimmt werden; die Checkliste ersetzt diese Abstimmung nicht.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Bestandsaufnahme vor der Holzfassadensanierung: Voruntersuchungen, die die Planung tragen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