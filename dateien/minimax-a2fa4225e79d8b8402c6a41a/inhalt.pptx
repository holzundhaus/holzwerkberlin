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berlin.blogspot.com/2026/10/vom-bestand-zum-holzprojekt-so-ordnen.html" TargetMode="External"/><Relationship Id="rId3" Type="http://schemas.openxmlformats.org/officeDocument/2006/relationships/hyperlink" Target="https://holzundhaus.github.io/holzwerkberlin/dateien/minimax-a2fa4225e79d8b8402c6a41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Vom Bestand zum Holzprojekt: So ordnen Sie Voruntersuchungen vor der Planung · Erklärende Präsentation</a:t>
            </a:r>
          </a:p>
        </p:txBody>
      </p:sp>
      <p:sp>
        <p:nvSpPr>
          <p:cNvPr id="3" name="Content Placeholder 2"/>
          <p:cNvSpPr>
            <a:spLocks noGrp="1"/>
          </p:cNvSpPr>
          <p:nvPr>
            <p:ph idx="1"/>
          </p:nvPr>
        </p:nvSpPr>
        <p:spPr/>
        <p:txBody>
          <a:bodyPr/>
          <a:lstStyle/>
          <a:p>
            <a:r>
              <a:t>Überblick: Bevor aus einem Holzschaden ein konkretes Vorhaben wird, braucht es eine belastbare Reihenfolge der Prüfungen. Diese Checkliste unterstützt die Vorbereitung einer Anfrage zu einem älteren Holzbestand: Sie verbindet Tragfähigkeit, Feuchte, Bauteilaufbau und Anschlussdetails so, dass sichtbare Schäden nicht vorschnell mit der Ursache verwechselt werden. Der Leitfaden ersetzt weder eine Tragwerksplanung noch die Prüfung genehmigungsrelevanter Fragen durch die zuständige Stelle.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Mit der Tragfähigkeit beginnen</a:t>
            </a:r>
          </a:p>
        </p:txBody>
      </p:sp>
      <p:sp>
        <p:nvSpPr>
          <p:cNvPr id="3" name="Content Placeholder 2"/>
          <p:cNvSpPr>
            <a:spLocks noGrp="1"/>
          </p:cNvSpPr>
          <p:nvPr>
            <p:ph idx="1"/>
          </p:nvPr>
        </p:nvSpPr>
        <p:spPr/>
        <p:txBody>
          <a:bodyPr/>
          <a:lstStyle/>
          <a:p>
            <a:pPr>
              <a:defRPr sz="1800"/>
            </a:pPr>
            <a:r>
              <a:t>Die erste Frage lautet nicht: Welches Holzteil muss ersetzt werden? Sondern: Erfüllt das vorhandene Tragwerk seine Aufgabe noch? Querschnitte, Spannweiten, Auflager und frühere Umbauten gehören deshalb an den Anfang. Das Entfernen einer Stütze oder das Aufdoppeln eines Balkens kann die Konstruktion verändert haben, ohne auf den ersten Blick erkennbar zu sein. Wer diese Zusammenhänge nicht kennt, verstärkt möglicherweise nur die Folge eines unbekannten Problems.</a:t>
            </a:r>
          </a:p>
          <a:p>
            <a:pPr>
              <a:defRPr sz="1800"/>
            </a:pPr>
          </a:p>
          <a:p>
            <a:pPr>
              <a:defRPr sz="1800"/>
            </a:pPr>
            <a:r>
              <a:t>Für eine Anfrage hilft es, vorhandene Unterlagen und beobachtete Veränderungen getrennt zu erfassen. Fotos können zeigen, wo Verformungen, Risse oder Austritte sichtbar sind. Sie erse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Mit der Tragfähigkeit beginnen</a:t>
            </a:r>
          </a:p>
        </p:txBody>
      </p:sp>
      <p:sp>
        <p:nvSpPr>
          <p:cNvPr id="3" name="Content Placeholder 2"/>
          <p:cNvSpPr>
            <a:spLocks noGrp="1"/>
          </p:cNvSpPr>
          <p:nvPr>
            <p:ph idx="1"/>
          </p:nvPr>
        </p:nvSpPr>
        <p:spPr/>
        <p:txBody>
          <a:bodyPr/>
          <a:lstStyle/>
          <a:p>
            <a:pPr>
              <a:defRPr sz="1800"/>
            </a:pPr>
            <a:r>
              <a:t>tzen jedoch nicht die Aufnahme des konstruktiven Aufbaus. Die Übersicht zur Bestandsaufnahme vor der Planung bietet eine nachvollziehbare Ausgangsfolge für diese Vorbereitung.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Feuchtequellen vor dem Bauteilwechsel klären</a:t>
            </a:r>
          </a:p>
        </p:txBody>
      </p:sp>
      <p:sp>
        <p:nvSpPr>
          <p:cNvPr id="3" name="Content Placeholder 2"/>
          <p:cNvSpPr>
            <a:spLocks noGrp="1"/>
          </p:cNvSpPr>
          <p:nvPr>
            <p:ph idx="1"/>
          </p:nvPr>
        </p:nvSpPr>
        <p:spPr/>
        <p:txBody>
          <a:bodyPr/>
          <a:lstStyle/>
          <a:p>
            <a:pPr>
              <a:defRPr sz="1800"/>
            </a:pPr>
            <a:r>
              <a:t>Ein fleckiger oder durchnässter Balken sollte nicht automatisch das einzige Problem sein. Entscheidend ist, woher die Feuchte kommt und ob das betroffene Bauteil nach einer Maßnahme wieder trocknen kann. Zu prüfen sind beispielsweise Wasserwege, Auflager, verdeckte Anschlusszonen und Bereiche mit Spritzwasser. Bleibt die Ursache unklar, kann auch ein neues Holzteil erneut beansprucht werden.</a:t>
            </a:r>
          </a:p>
          <a:p>
            <a:pPr>
              <a:defRPr sz="1800"/>
            </a:pPr>
          </a:p>
          <a:p>
            <a:pPr>
              <a:defRPr sz="1800"/>
            </a:pPr>
            <a:r>
              <a:t>Eine hilfreiche Anfrage beschreibt deshalb nicht nur den sichtbaren Schaden, sondern auch seine räumliche Umgebung: Wo tritt Feuchte auf? Welche Witterung oder Nutzung liegt vor? Gibt es Stellen, an denen Wasser abfließt, stehen bleibt oder von benachbar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Feuchtequellen vor dem Bauteilwechsel klären</a:t>
            </a:r>
          </a:p>
        </p:txBody>
      </p:sp>
      <p:sp>
        <p:nvSpPr>
          <p:cNvPr id="3" name="Content Placeholder 2"/>
          <p:cNvSpPr>
            <a:spLocks noGrp="1"/>
          </p:cNvSpPr>
          <p:nvPr>
            <p:ph idx="1"/>
          </p:nvPr>
        </p:nvSpPr>
        <p:spPr/>
        <p:txBody>
          <a:bodyPr/>
          <a:lstStyle/>
          <a:p>
            <a:pPr>
              <a:defRPr sz="1800"/>
            </a:pPr>
            <a:r>
              <a:t>ten Bauteilen herankommt? Diese Angaben erleichtern die Beurteilung, ohne vorab eine fertige Diagnose zu unterstellen.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Schichtfolgen und Anschlüsse zeichnen</a:t>
            </a:r>
          </a:p>
        </p:txBody>
      </p:sp>
      <p:sp>
        <p:nvSpPr>
          <p:cNvPr id="3" name="Content Placeholder 2"/>
          <p:cNvSpPr>
            <a:spLocks noGrp="1"/>
          </p:cNvSpPr>
          <p:nvPr>
            <p:ph idx="1"/>
          </p:nvPr>
        </p:nvSpPr>
        <p:spPr/>
        <p:txBody>
          <a:bodyPr/>
          <a:lstStyle/>
          <a:p>
            <a:pPr>
              <a:defRPr sz="1800"/>
            </a:pPr>
            <a:r>
              <a:t>Dach, Wand und Decke bestehen im Altbau oft aus mehreren Lagen. Beplankung, Dämmung, Dampfbremse, Bekleidung und weitere Bestandteile beeinflussen, wie ein neuer oder ergänzter Holzanschluss funktionieren kann. Eine einfache Skizze der Schichtfolge sowie Markierungen von Durchdringungen bringt deshalb Erkenntnisse, die aus einzelnen Detailfotos allein nicht hervorgehen.</a:t>
            </a:r>
          </a:p>
          <a:p>
            <a:pPr>
              <a:defRPr sz="1800"/>
            </a:pPr>
          </a:p>
          <a:p>
            <a:pPr>
              <a:defRPr sz="1800"/>
            </a:pPr>
            <a:r>
              <a:t>Ebenso wichtig sind die Schnittstellen zwischen Holz, Mauerwerk, anderen Bauteilen und Gebäudehülle. Hier wird sichtbar, ob Wasser kontrolliert ablaufen kann, ob Bauteile hinterlüftet bleiben und wo Wärmebrücken entstehen. Anschlussdetails sollten vor der Anfrage gesondert be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Schichtfolgen und Anschlüsse zeichnen</a:t>
            </a:r>
          </a:p>
        </p:txBody>
      </p:sp>
      <p:sp>
        <p:nvSpPr>
          <p:cNvPr id="3" name="Content Placeholder 2"/>
          <p:cNvSpPr>
            <a:spLocks noGrp="1"/>
          </p:cNvSpPr>
          <p:nvPr>
            <p:ph idx="1"/>
          </p:nvPr>
        </p:nvSpPr>
        <p:spPr/>
        <p:txBody>
          <a:bodyPr/>
          <a:lstStyle/>
          <a:p>
            <a:pPr>
              <a:defRPr sz="1800"/>
            </a:pPr>
            <a:r>
              <a:t>trachtet werden. So können offene Punkte zwischen den beteiligten Gewerken erkannt und gezielt angesprochen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Die Anfrage so vorbereiten, dass sie weiterhilft</a:t>
            </a:r>
          </a:p>
        </p:txBody>
      </p:sp>
      <p:sp>
        <p:nvSpPr>
          <p:cNvPr id="3" name="Content Placeholder 2"/>
          <p:cNvSpPr>
            <a:spLocks noGrp="1"/>
          </p:cNvSpPr>
          <p:nvPr>
            <p:ph idx="1"/>
          </p:nvPr>
        </p:nvSpPr>
        <p:spPr/>
        <p:txBody>
          <a:bodyPr/>
          <a:lstStyle/>
          <a:p>
            <a:pPr>
              <a:defRPr sz="1800"/>
            </a:pPr>
            <a:r>
              <a:t>Eine gute Anfrage bündelt die Ergebnisse der Voruntersuchung, ohne sie mit einer fertigen Lösung zu verwechseln. Nützlich sind Angaben zur Lage betroffener Bauteile, zu sichtbaren Veränderungen, zu früheren Eingriffen, zu Feuchtebeobachtungen und zu bereits vorhandenen Untersuchungen. Dazu können einfache Skizzen, Maße und aussagekräftige Fotos gehören. Offene Fragen sollten ausdrücklich als offen bezeichnet werden.</a:t>
            </a:r>
          </a:p>
          <a:p>
            <a:pPr>
              <a:defRPr sz="1800"/>
            </a:pPr>
          </a:p>
          <a:p>
            <a:pPr>
              <a:defRPr sz="1800"/>
            </a:pPr>
            <a:r>
              <a:t>Die Bestandsaufnahme ersetzt nicht die Tragwerksplanung oder die Klärung von Genehmigungsfragen. Welche Nachweise erforderlich sind, hängt vom Vorhaben und vom jeweiligen Bezirk ab. Die Vorbereitung liefert jedoch eine sachliche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Die Anfrage so vorbereiten, dass sie weiterhilft</a:t>
            </a:r>
          </a:p>
        </p:txBody>
      </p:sp>
      <p:sp>
        <p:nvSpPr>
          <p:cNvPr id="3" name="Content Placeholder 2"/>
          <p:cNvSpPr>
            <a:spLocks noGrp="1"/>
          </p:cNvSpPr>
          <p:nvPr>
            <p:ph idx="1"/>
          </p:nvPr>
        </p:nvSpPr>
        <p:spPr/>
        <p:txBody>
          <a:bodyPr/>
          <a:lstStyle/>
          <a:p>
            <a:pPr>
              <a:defRPr sz="1800"/>
            </a:pPr>
            <a:r>
              <a:t>Grundlage für die weitere Abstimmung. Für die fachliche Einordnung von Verstärkungs- oder Reparaturmöglichkeiten bietet die Übersicht zur Dachstuhlverstärkung und Reparatur einen ergänzenden Einstieg.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Vom Bestand zum Holzprojekt: So ordnen Sie Voruntersuchungen vor der Planung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